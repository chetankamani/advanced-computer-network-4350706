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handoutMasterIdLst>
    <p:handoutMasterId r:id="rId32"/>
  </p:handoutMasterIdLst>
  <p:sldIdLst>
    <p:sldId id="256" r:id="rId2"/>
    <p:sldId id="257" r:id="rId3"/>
    <p:sldId id="315" r:id="rId4"/>
    <p:sldId id="316" r:id="rId5"/>
    <p:sldId id="318" r:id="rId6"/>
    <p:sldId id="319" r:id="rId7"/>
    <p:sldId id="320" r:id="rId8"/>
    <p:sldId id="321" r:id="rId9"/>
    <p:sldId id="322" r:id="rId10"/>
    <p:sldId id="323" r:id="rId11"/>
    <p:sldId id="324" r:id="rId12"/>
    <p:sldId id="325" r:id="rId13"/>
    <p:sldId id="326" r:id="rId14"/>
    <p:sldId id="328" r:id="rId15"/>
    <p:sldId id="327" r:id="rId16"/>
    <p:sldId id="329" r:id="rId17"/>
    <p:sldId id="330" r:id="rId18"/>
    <p:sldId id="331" r:id="rId19"/>
    <p:sldId id="332" r:id="rId20"/>
    <p:sldId id="333" r:id="rId21"/>
    <p:sldId id="340" r:id="rId22"/>
    <p:sldId id="334" r:id="rId23"/>
    <p:sldId id="335" r:id="rId24"/>
    <p:sldId id="336" r:id="rId25"/>
    <p:sldId id="338" r:id="rId26"/>
    <p:sldId id="339" r:id="rId27"/>
    <p:sldId id="314" r:id="rId28"/>
    <p:sldId id="305" r:id="rId29"/>
    <p:sldId id="304" r:id="rId30"/>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C20E35-A176-4012-BC5E-935CFFF8708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41" autoAdjust="0"/>
  </p:normalViewPr>
  <p:slideViewPr>
    <p:cSldViewPr>
      <p:cViewPr varScale="1">
        <p:scale>
          <a:sx n="78" d="100"/>
          <a:sy n="78" d="100"/>
        </p:scale>
        <p:origin x="787" y="67"/>
      </p:cViewPr>
      <p:guideLst>
        <p:guide pos="3839"/>
        <p:guide orient="horz" pos="2160"/>
      </p:guideLst>
    </p:cSldViewPr>
  </p:slideViewPr>
  <p:notesTextViewPr>
    <p:cViewPr>
      <p:scale>
        <a:sx n="1" d="1"/>
        <a:sy n="1" d="1"/>
      </p:scale>
      <p:origin x="0" y="0"/>
    </p:cViewPr>
  </p:notesTextViewPr>
  <p:notesViewPr>
    <p:cSldViewPr showGuides="1">
      <p:cViewPr varScale="1">
        <p:scale>
          <a:sx n="62" d="100"/>
          <a:sy n="62" d="100"/>
        </p:scale>
        <p:origin x="2371"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84AA43A-3F76-4A13-9CD6-36134EB429E3}" type="datetimeFigureOut">
              <a:rPr lang="en-US"/>
              <a:t>9/22/2023</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850423A-8BCE-448E-A97B-03A88B2B12C1}" type="slidenum">
              <a:rPr/>
              <a:t>‹#›</a:t>
            </a:fld>
            <a:endParaRPr/>
          </a:p>
        </p:txBody>
      </p:sp>
    </p:spTree>
    <p:extLst>
      <p:ext uri="{BB962C8B-B14F-4D97-AF65-F5344CB8AC3E}">
        <p14:creationId xmlns:p14="http://schemas.microsoft.com/office/powerpoint/2010/main" val="40513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674A4F-2B7A-4ECB-A400-260B2FFC03C1}" type="datetimeFigureOut">
              <a:rPr lang="en-US"/>
              <a:t>9/22/2023</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F2A70B-78F2-4DCF-B53B-C990D2FAFB8A}" type="slidenum">
              <a:rPr/>
              <a:t>‹#›</a:t>
            </a:fld>
            <a:endParaRPr/>
          </a:p>
        </p:txBody>
      </p:sp>
    </p:spTree>
    <p:extLst>
      <p:ext uri="{BB962C8B-B14F-4D97-AF65-F5344CB8AC3E}">
        <p14:creationId xmlns:p14="http://schemas.microsoft.com/office/powerpoint/2010/main" val="2411570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2413" y="1905000"/>
            <a:ext cx="9144000" cy="2667000"/>
          </a:xfrm>
        </p:spPr>
        <p:txBody>
          <a:bodyPr>
            <a:noAutofit/>
          </a:bodyPr>
          <a:lstStyle>
            <a:lvl1pPr>
              <a:defRPr sz="5400"/>
            </a:lvl1pPr>
          </a:lstStyle>
          <a:p>
            <a:r>
              <a:rPr lang="en-US"/>
              <a:t>Click to edit Master title style</a:t>
            </a:r>
            <a:endParaRPr/>
          </a:p>
        </p:txBody>
      </p:sp>
      <p:grpSp>
        <p:nvGrpSpPr>
          <p:cNvPr id="256" name="line" descr="Line graphic"/>
          <p:cNvGrpSpPr/>
          <p:nvPr/>
        </p:nvGrpSpPr>
        <p:grpSpPr bwMode="invGray">
          <a:xfrm>
            <a:off x="1584896" y="4724400"/>
            <a:ext cx="8631936" cy="64008"/>
            <a:chOff x="-4110038" y="2703513"/>
            <a:chExt cx="17394239" cy="160336"/>
          </a:xfrm>
          <a:solidFill>
            <a:schemeClr val="accent1"/>
          </a:solidFill>
        </p:grpSpPr>
        <p:sp>
          <p:nvSpPr>
            <p:cNvPr id="257"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9"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Subtitle 2"/>
          <p:cNvSpPr>
            <a:spLocks noGrp="1"/>
          </p:cNvSpPr>
          <p:nvPr>
            <p:ph type="subTitle" idx="1"/>
          </p:nvPr>
        </p:nvSpPr>
        <p:spPr>
          <a:xfrm>
            <a:off x="1522413" y="5105400"/>
            <a:ext cx="9143999" cy="1066800"/>
          </a:xfrm>
        </p:spPr>
        <p:txBody>
          <a:bodyPr/>
          <a:lstStyle>
            <a:lvl1pPr marL="0" indent="0" algn="l">
              <a:spcBef>
                <a:spcPts val="0"/>
              </a:spcBef>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674356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67" name="line" descr="Line graphic"/>
          <p:cNvGrpSpPr/>
          <p:nvPr/>
        </p:nvGrpSpPr>
        <p:grpSpPr bwMode="invGray">
          <a:xfrm>
            <a:off x="1522413" y="1514475"/>
            <a:ext cx="10569575" cy="64008"/>
            <a:chOff x="1522413" y="1514475"/>
            <a:chExt cx="10569575" cy="64008"/>
          </a:xfrm>
        </p:grpSpPr>
        <p:sp>
          <p:nvSpPr>
            <p:cNvPr id="16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idx="1"/>
          </p:nvPr>
        </p:nvSpPr>
        <p:spPr/>
        <p:txBody>
          <a:bodyPr/>
          <a:lstStyle>
            <a:lvl2pPr marL="548640">
              <a:defRPr/>
            </a:lvl2pPr>
            <a:lvl3pPr marL="777240">
              <a:defRPr/>
            </a:lvl3pPr>
            <a:lvl4pPr marL="1005840">
              <a:defRPr/>
            </a:lvl4pPr>
            <a:lvl5pPr marL="1234440">
              <a:defRPr/>
            </a:lvl5pPr>
            <a:lvl6pPr marL="1463040">
              <a:defRPr baseline="0"/>
            </a:lvl6pPr>
            <a:lvl7pPr marL="1691640">
              <a:defRPr baseline="0"/>
            </a:lvl7pPr>
            <a:lvl8pPr marL="1920240">
              <a:defRPr baseline="0"/>
            </a:lvl8pPr>
            <a:lvl9pPr marL="2148840">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dirty="0"/>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dirty="0"/>
          </a:p>
        </p:txBody>
      </p:sp>
    </p:spTree>
    <p:extLst>
      <p:ext uri="{BB962C8B-B14F-4D97-AF65-F5344CB8AC3E}">
        <p14:creationId xmlns:p14="http://schemas.microsoft.com/office/powerpoint/2010/main" val="2614472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3" y="1905000"/>
            <a:ext cx="9144000" cy="2667000"/>
          </a:xfrm>
        </p:spPr>
        <p:txBody>
          <a:bodyPr anchor="b">
            <a:noAutofit/>
          </a:bodyPr>
          <a:lstStyle>
            <a:lvl1pPr algn="l">
              <a:defRPr sz="4400" b="0" cap="none" baseline="0"/>
            </a:lvl1pPr>
          </a:lstStyle>
          <a:p>
            <a:r>
              <a:rPr lang="en-US"/>
              <a:t>Click to edit Master title style</a:t>
            </a:r>
            <a:endParaRPr/>
          </a:p>
        </p:txBody>
      </p:sp>
      <p:grpSp>
        <p:nvGrpSpPr>
          <p:cNvPr id="255" name="line" descr="Line graphic"/>
          <p:cNvGrpSpPr/>
          <p:nvPr/>
        </p:nvGrpSpPr>
        <p:grpSpPr bwMode="invGray">
          <a:xfrm>
            <a:off x="1584896" y="4724400"/>
            <a:ext cx="8631936" cy="64008"/>
            <a:chOff x="-4110038" y="2703513"/>
            <a:chExt cx="17394239" cy="160336"/>
          </a:xfrm>
          <a:solidFill>
            <a:schemeClr val="accent1"/>
          </a:solidFill>
        </p:grpSpPr>
        <p:sp>
          <p:nvSpPr>
            <p:cNvPr id="256"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7"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Text Placeholder 2"/>
          <p:cNvSpPr>
            <a:spLocks noGrp="1"/>
          </p:cNvSpPr>
          <p:nvPr>
            <p:ph type="body" idx="1"/>
          </p:nvPr>
        </p:nvSpPr>
        <p:spPr>
          <a:xfrm>
            <a:off x="1522413" y="5102525"/>
            <a:ext cx="9143999" cy="1069675"/>
          </a:xfrm>
        </p:spPr>
        <p:txBody>
          <a:bodyPr anchor="t">
            <a:normAutofit/>
          </a:bodyPr>
          <a:lstStyle>
            <a:lvl1pPr marL="0" indent="0">
              <a:spcBef>
                <a:spcPts val="0"/>
              </a:spcBef>
              <a:buNone/>
              <a:defRPr sz="2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058797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58" name="line" descr="Line graphic"/>
          <p:cNvGrpSpPr/>
          <p:nvPr/>
        </p:nvGrpSpPr>
        <p:grpSpPr bwMode="invGray">
          <a:xfrm>
            <a:off x="1522413" y="1514475"/>
            <a:ext cx="10569575" cy="64008"/>
            <a:chOff x="1522413" y="1514475"/>
            <a:chExt cx="10569575" cy="64008"/>
          </a:xfrm>
        </p:grpSpPr>
        <p:sp>
          <p:nvSpPr>
            <p:cNvPr id="159"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sz="half" idx="1"/>
          </p:nvPr>
        </p:nvSpPr>
        <p:spPr>
          <a:xfrm>
            <a:off x="1522413" y="1905000"/>
            <a:ext cx="4419599"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46815" y="1905000"/>
            <a:ext cx="4419598"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IN"/>
              <a:t>Prepared By: Mr. Chetan C. Kamani, Lecturer computer department, GP, Jamnagar</a:t>
            </a:r>
            <a:endParaRPr/>
          </a:p>
        </p:txBody>
      </p:sp>
      <p:sp>
        <p:nvSpPr>
          <p:cNvPr id="5" name="Date Placeholder 4"/>
          <p:cNvSpPr>
            <a:spLocks noGrp="1"/>
          </p:cNvSpPr>
          <p:nvPr>
            <p:ph type="dt" sz="half" idx="10"/>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683294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lvl1pPr>
              <a:defRPr/>
            </a:lvl1pPr>
          </a:lstStyle>
          <a:p>
            <a:r>
              <a:rPr lang="en-US"/>
              <a:t>Click to edit Master title style</a:t>
            </a:r>
            <a:endParaRPr/>
          </a:p>
        </p:txBody>
      </p:sp>
      <p:grpSp>
        <p:nvGrpSpPr>
          <p:cNvPr id="160" name="line" descr="Line graphic"/>
          <p:cNvGrpSpPr/>
          <p:nvPr/>
        </p:nvGrpSpPr>
        <p:grpSpPr bwMode="invGray">
          <a:xfrm>
            <a:off x="1522413" y="1514475"/>
            <a:ext cx="10569575" cy="64008"/>
            <a:chOff x="1522413" y="1514475"/>
            <a:chExt cx="10569575" cy="64008"/>
          </a:xfrm>
        </p:grpSpPr>
        <p:sp>
          <p:nvSpPr>
            <p:cNvPr id="161" name="Freeform 16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6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Text Placeholder 2"/>
          <p:cNvSpPr>
            <a:spLocks noGrp="1"/>
          </p:cNvSpPr>
          <p:nvPr>
            <p:ph type="body" idx="1"/>
          </p:nvPr>
        </p:nvSpPr>
        <p:spPr>
          <a:xfrm>
            <a:off x="1522413"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819399"/>
            <a:ext cx="4416552" cy="3352801"/>
          </a:xfrm>
        </p:spPr>
        <p:txBody>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9860"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9860" y="2819399"/>
            <a:ext cx="4416552" cy="3352801"/>
          </a:xfrm>
        </p:spPr>
        <p:txBody>
          <a:bodyPr/>
          <a:lstStyle>
            <a:lvl1pPr>
              <a:defRPr sz="2400"/>
            </a:lvl1pPr>
            <a:lvl2pPr>
              <a:defRPr sz="2000"/>
            </a:lvl2pPr>
            <a:lvl3pPr>
              <a:defRPr sz="1800"/>
            </a:lvl3pPr>
            <a:lvl4pPr>
              <a:defRPr sz="1600"/>
            </a:lvl4pPr>
            <a:lvl5pPr marL="1956816">
              <a:defRPr sz="1600"/>
            </a:lvl5pPr>
            <a:lvl6pPr marL="1956816">
              <a:defRPr sz="1600"/>
            </a:lvl6pPr>
            <a:lvl7pPr marL="1956816">
              <a:defRPr sz="1600"/>
            </a:lvl7pPr>
            <a:lvl8pPr marL="1956816">
              <a:defRPr sz="1600"/>
            </a:lvl8pPr>
            <a:lvl9pPr marL="1956816">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IN"/>
              <a:t>Prepared By: Mr. Chetan C. Kamani, Lecturer computer department, GP, Jamnagar</a:t>
            </a:r>
            <a:endParaRPr/>
          </a:p>
        </p:txBody>
      </p:sp>
      <p:sp>
        <p:nvSpPr>
          <p:cNvPr id="7" name="Date Placeholder 6"/>
          <p:cNvSpPr>
            <a:spLocks noGrp="1"/>
          </p:cNvSpPr>
          <p:nvPr>
            <p:ph type="dt" sz="half" idx="10"/>
          </p:nvPr>
        </p:nvSpPr>
        <p:spPr/>
        <p:txBody>
          <a:bodyPr/>
          <a:lstStyle/>
          <a:p>
            <a:endParaRPr/>
          </a:p>
        </p:txBody>
      </p:sp>
      <p:sp>
        <p:nvSpPr>
          <p:cNvPr id="9" name="Slide Number Placeholder 8"/>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182491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156" name="line" descr="Line graphic"/>
          <p:cNvGrpSpPr/>
          <p:nvPr/>
        </p:nvGrpSpPr>
        <p:grpSpPr bwMode="invGray">
          <a:xfrm>
            <a:off x="1522413" y="1514475"/>
            <a:ext cx="10569575" cy="64008"/>
            <a:chOff x="1522413" y="1514475"/>
            <a:chExt cx="10569575" cy="64008"/>
          </a:xfrm>
        </p:grpSpPr>
        <p:sp>
          <p:nvSpPr>
            <p:cNvPr id="157"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8"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9"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4" name="Footer Placeholder 3"/>
          <p:cNvSpPr>
            <a:spLocks noGrp="1"/>
          </p:cNvSpPr>
          <p:nvPr>
            <p:ph type="ftr" sz="quarter" idx="11"/>
          </p:nvPr>
        </p:nvSpPr>
        <p:spPr/>
        <p:txBody>
          <a:bodyPr/>
          <a:lstStyle/>
          <a:p>
            <a:r>
              <a:rPr lang="en-IN"/>
              <a:t>Prepared By: Mr. Chetan C. Kamani, Lecturer computer department, GP, Jamnagar</a:t>
            </a:r>
            <a:endParaRPr/>
          </a:p>
        </p:txBody>
      </p:sp>
      <p:sp>
        <p:nvSpPr>
          <p:cNvPr id="3" name="Date Placeholder 2"/>
          <p:cNvSpPr>
            <a:spLocks noGrp="1"/>
          </p:cNvSpPr>
          <p:nvPr>
            <p:ph type="dt" sz="half" idx="10"/>
          </p:nvPr>
        </p:nvSpPr>
        <p:spPr/>
        <p:txBody>
          <a:bodyPr/>
          <a:lstStyle/>
          <a:p>
            <a:endParaRPr/>
          </a:p>
        </p:txBody>
      </p:sp>
      <p:sp>
        <p:nvSpPr>
          <p:cNvPr id="5" name="Slide Number Placeholder 4"/>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531561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a:t>Prepared By: Mr. Chetan C. Kamani, Lecturer computer department, GP, Jamnagar</a:t>
            </a:r>
            <a:endParaRPr/>
          </a:p>
        </p:txBody>
      </p:sp>
      <p:sp>
        <p:nvSpPr>
          <p:cNvPr id="2" name="Date Placeholder 1"/>
          <p:cNvSpPr>
            <a:spLocks noGrp="1"/>
          </p:cNvSpPr>
          <p:nvPr>
            <p:ph type="dt" sz="half" idx="10"/>
          </p:nvPr>
        </p:nvSpPr>
        <p:spPr/>
        <p:txBody>
          <a:bodyPr/>
          <a:lstStyle/>
          <a:p>
            <a:endParaRPr/>
          </a:p>
        </p:txBody>
      </p:sp>
      <p:sp>
        <p:nvSpPr>
          <p:cNvPr id="4" name="Slide Number Placeholder 3"/>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405966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4" name="Text Placeholder 3"/>
          <p:cNvSpPr>
            <a:spLocks noGrp="1"/>
          </p:cNvSpPr>
          <p:nvPr>
            <p:ph type="body" sz="half" idx="2"/>
          </p:nvPr>
        </p:nvSpPr>
        <p:spPr>
          <a:xfrm>
            <a:off x="1522413" y="3429000"/>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4710022" y="1905000"/>
            <a:ext cx="5669280" cy="4038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grpSp>
        <p:nvGrpSpPr>
          <p:cNvPr id="615" name="frame" descr="Box graphic"/>
          <p:cNvGrpSpPr/>
          <p:nvPr/>
        </p:nvGrpSpPr>
        <p:grpSpPr bwMode="invGray">
          <a:xfrm>
            <a:off x="4417839" y="1630821"/>
            <a:ext cx="6291028" cy="4575885"/>
            <a:chOff x="4417839" y="1630821"/>
            <a:chExt cx="6291028" cy="4575885"/>
          </a:xfrm>
        </p:grpSpPr>
        <p:grpSp>
          <p:nvGrpSpPr>
            <p:cNvPr id="616" name="Group 615"/>
            <p:cNvGrpSpPr/>
            <p:nvPr/>
          </p:nvGrpSpPr>
          <p:grpSpPr bwMode="invGray">
            <a:xfrm>
              <a:off x="5414491" y="1630821"/>
              <a:ext cx="5294376" cy="4114800"/>
              <a:chOff x="3310555" y="716546"/>
              <a:chExt cx="5294376" cy="4114800"/>
            </a:xfrm>
          </p:grpSpPr>
          <p:grpSp>
            <p:nvGrpSpPr>
              <p:cNvPr id="768" name="Group 767"/>
              <p:cNvGrpSpPr/>
              <p:nvPr/>
            </p:nvGrpSpPr>
            <p:grpSpPr bwMode="invGray">
              <a:xfrm flipH="1">
                <a:off x="3310555" y="737968"/>
                <a:ext cx="5294376" cy="54864"/>
                <a:chOff x="1522413" y="1514475"/>
                <a:chExt cx="10569575" cy="64008"/>
              </a:xfrm>
              <a:solidFill>
                <a:schemeClr val="accent1"/>
              </a:solidFill>
            </p:grpSpPr>
            <p:sp>
              <p:nvSpPr>
                <p:cNvPr id="844" name="Freeform 84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84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9" name="Group 768"/>
              <p:cNvGrpSpPr/>
              <p:nvPr/>
            </p:nvGrpSpPr>
            <p:grpSpPr bwMode="invGray">
              <a:xfrm rot="16200000" flipH="1">
                <a:off x="6492229" y="2755658"/>
                <a:ext cx="4114800" cy="36576"/>
                <a:chOff x="1522413" y="1514475"/>
                <a:chExt cx="10569575" cy="64008"/>
              </a:xfrm>
              <a:solidFill>
                <a:schemeClr val="accent1"/>
              </a:solidFill>
            </p:grpSpPr>
            <p:sp>
              <p:nvSpPr>
                <p:cNvPr id="770" name="Freeform 76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77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7" name="Group 616"/>
            <p:cNvGrpSpPr/>
            <p:nvPr/>
          </p:nvGrpSpPr>
          <p:grpSpPr bwMode="invGray">
            <a:xfrm rot="10800000">
              <a:off x="4417839" y="2091906"/>
              <a:ext cx="5294376" cy="4114800"/>
              <a:chOff x="3310555" y="716546"/>
              <a:chExt cx="5294376" cy="4114800"/>
            </a:xfrm>
          </p:grpSpPr>
          <p:grpSp>
            <p:nvGrpSpPr>
              <p:cNvPr id="618" name="Group 617"/>
              <p:cNvGrpSpPr/>
              <p:nvPr/>
            </p:nvGrpSpPr>
            <p:grpSpPr bwMode="invGray">
              <a:xfrm flipH="1">
                <a:off x="3310555" y="737968"/>
                <a:ext cx="5294376" cy="54864"/>
                <a:chOff x="1522413" y="1514475"/>
                <a:chExt cx="10569575" cy="64008"/>
              </a:xfrm>
              <a:solidFill>
                <a:schemeClr val="accent1"/>
              </a:solidFill>
            </p:grpSpPr>
            <p:sp>
              <p:nvSpPr>
                <p:cNvPr id="694" name="Freeform 69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69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9" name="Group 618"/>
              <p:cNvGrpSpPr/>
              <p:nvPr/>
            </p:nvGrpSpPr>
            <p:grpSpPr bwMode="invGray">
              <a:xfrm rot="16200000" flipH="1">
                <a:off x="6492229" y="2755658"/>
                <a:ext cx="4114800" cy="36576"/>
                <a:chOff x="1522413" y="1514475"/>
                <a:chExt cx="10569575" cy="64008"/>
              </a:xfrm>
              <a:solidFill>
                <a:schemeClr val="accent1"/>
              </a:solidFill>
            </p:grpSpPr>
            <p:sp>
              <p:nvSpPr>
                <p:cNvPr id="620" name="Freeform 61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6" name="Footer Placeholder 5"/>
          <p:cNvSpPr>
            <a:spLocks noGrp="1"/>
          </p:cNvSpPr>
          <p:nvPr>
            <p:ph type="ftr" sz="quarter" idx="11"/>
          </p:nvPr>
        </p:nvSpPr>
        <p:spPr/>
        <p:txBody>
          <a:bodyPr/>
          <a:lstStyle/>
          <a:p>
            <a:r>
              <a:rPr lang="en-IN"/>
              <a:t>Prepared By: Mr. Chetan C. Kamani, Lecturer computer department, GP, Jamnagar</a:t>
            </a:r>
            <a:endParaRPr/>
          </a:p>
        </p:txBody>
      </p:sp>
      <p:sp>
        <p:nvSpPr>
          <p:cNvPr id="5" name="Date Placeholder 4"/>
          <p:cNvSpPr>
            <a:spLocks noGrp="1"/>
          </p:cNvSpPr>
          <p:nvPr>
            <p:ph type="dt" sz="half" idx="10"/>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962116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745838" y="1884311"/>
            <a:ext cx="5669280" cy="4041648"/>
          </a:xfrm>
          <a:solidFill>
            <a:schemeClr val="bg1"/>
          </a:solidFill>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grpSp>
        <p:nvGrpSpPr>
          <p:cNvPr id="614" name="frame" descr="Box graphic"/>
          <p:cNvGrpSpPr/>
          <p:nvPr/>
        </p:nvGrpSpPr>
        <p:grpSpPr bwMode="invGray">
          <a:xfrm flipH="1">
            <a:off x="1447500" y="1630821"/>
            <a:ext cx="6291028" cy="4575885"/>
            <a:chOff x="4417839" y="1630821"/>
            <a:chExt cx="6291028" cy="4575885"/>
          </a:xfrm>
        </p:grpSpPr>
        <p:grpSp>
          <p:nvGrpSpPr>
            <p:cNvPr id="615" name="Group 614"/>
            <p:cNvGrpSpPr/>
            <p:nvPr/>
          </p:nvGrpSpPr>
          <p:grpSpPr bwMode="invGray">
            <a:xfrm>
              <a:off x="5414491" y="1630821"/>
              <a:ext cx="5294376" cy="4114800"/>
              <a:chOff x="3310555" y="716546"/>
              <a:chExt cx="5294376" cy="4114800"/>
            </a:xfrm>
          </p:grpSpPr>
          <p:grpSp>
            <p:nvGrpSpPr>
              <p:cNvPr id="767" name="Group 766"/>
              <p:cNvGrpSpPr/>
              <p:nvPr/>
            </p:nvGrpSpPr>
            <p:grpSpPr bwMode="invGray">
              <a:xfrm flipH="1">
                <a:off x="3310555" y="737968"/>
                <a:ext cx="5294376" cy="54864"/>
                <a:chOff x="1522413" y="1514475"/>
                <a:chExt cx="10569575" cy="64008"/>
              </a:xfrm>
              <a:solidFill>
                <a:schemeClr val="accent1"/>
              </a:solidFill>
            </p:grpSpPr>
            <p:sp>
              <p:nvSpPr>
                <p:cNvPr id="843" name="Freeform 84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4" name="Freeform 84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8" name="Group 767"/>
              <p:cNvGrpSpPr/>
              <p:nvPr/>
            </p:nvGrpSpPr>
            <p:grpSpPr bwMode="invGray">
              <a:xfrm rot="16200000" flipH="1">
                <a:off x="6492229" y="2755658"/>
                <a:ext cx="4114800" cy="36576"/>
                <a:chOff x="1522413" y="1514475"/>
                <a:chExt cx="10569575" cy="64008"/>
              </a:xfrm>
              <a:solidFill>
                <a:schemeClr val="accent1"/>
              </a:solidFill>
            </p:grpSpPr>
            <p:sp>
              <p:nvSpPr>
                <p:cNvPr id="769" name="Freeform 76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0" name="Freeform 76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6" name="Group 615"/>
            <p:cNvGrpSpPr/>
            <p:nvPr/>
          </p:nvGrpSpPr>
          <p:grpSpPr bwMode="invGray">
            <a:xfrm rot="10800000">
              <a:off x="4417839" y="2091906"/>
              <a:ext cx="5294376" cy="4114800"/>
              <a:chOff x="3310555" y="716546"/>
              <a:chExt cx="5294376" cy="4114800"/>
            </a:xfrm>
          </p:grpSpPr>
          <p:grpSp>
            <p:nvGrpSpPr>
              <p:cNvPr id="617" name="Group 616"/>
              <p:cNvGrpSpPr/>
              <p:nvPr/>
            </p:nvGrpSpPr>
            <p:grpSpPr bwMode="invGray">
              <a:xfrm flipH="1">
                <a:off x="3310555" y="737968"/>
                <a:ext cx="5294376" cy="54864"/>
                <a:chOff x="1522413" y="1514475"/>
                <a:chExt cx="10569575" cy="64008"/>
              </a:xfrm>
              <a:solidFill>
                <a:schemeClr val="accent1"/>
              </a:solidFill>
            </p:grpSpPr>
            <p:sp>
              <p:nvSpPr>
                <p:cNvPr id="693" name="Freeform 69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4" name="Freeform 69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8" name="Group 617"/>
              <p:cNvGrpSpPr/>
              <p:nvPr/>
            </p:nvGrpSpPr>
            <p:grpSpPr bwMode="invGray">
              <a:xfrm rot="16200000" flipH="1">
                <a:off x="6492229" y="2755658"/>
                <a:ext cx="4114800" cy="36576"/>
                <a:chOff x="1522413" y="1514475"/>
                <a:chExt cx="10569575" cy="64008"/>
              </a:xfrm>
              <a:solidFill>
                <a:schemeClr val="accent1"/>
              </a:solidFill>
            </p:grpSpPr>
            <p:sp>
              <p:nvSpPr>
                <p:cNvPr id="619" name="Freeform 61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0" name="Freeform 61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622"/>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623"/>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624"/>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625"/>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626"/>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627"/>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628"/>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629"/>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630"/>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631"/>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632"/>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633"/>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634"/>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635"/>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636"/>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637"/>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638"/>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639"/>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640"/>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641"/>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642"/>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643"/>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644"/>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645"/>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646"/>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647"/>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648"/>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649"/>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650"/>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651"/>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652"/>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653"/>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654"/>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655"/>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656"/>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657"/>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658"/>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659"/>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660"/>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661"/>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662"/>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663"/>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664"/>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665"/>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666"/>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67"/>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68"/>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69"/>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70"/>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71"/>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72"/>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73"/>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4"/>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75"/>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76"/>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677"/>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678"/>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679"/>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680"/>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681"/>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682"/>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683"/>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684"/>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685"/>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686"/>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687"/>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688"/>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689"/>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690"/>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691"/>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4" name="Text Placeholder 3"/>
          <p:cNvSpPr>
            <a:spLocks noGrp="1"/>
          </p:cNvSpPr>
          <p:nvPr>
            <p:ph type="body" sz="half" idx="2"/>
          </p:nvPr>
        </p:nvSpPr>
        <p:spPr>
          <a:xfrm>
            <a:off x="7905959" y="3411748"/>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IN"/>
              <a:t>Prepared By: Mr. Chetan C. Kamani, Lecturer computer department, GP, Jamnagar</a:t>
            </a:r>
            <a:endParaRPr/>
          </a:p>
        </p:txBody>
      </p:sp>
      <p:sp>
        <p:nvSpPr>
          <p:cNvPr id="5" name="Date Placeholder 4"/>
          <p:cNvSpPr>
            <a:spLocks noGrp="1"/>
          </p:cNvSpPr>
          <p:nvPr>
            <p:ph type="dt" sz="half" idx="10"/>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3617694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7" name="line" descr="Line graphic"/>
          <p:cNvGrpSpPr/>
          <p:nvPr/>
        </p:nvGrpSpPr>
        <p:grpSpPr bwMode="invGray">
          <a:xfrm>
            <a:off x="1522413" y="1514475"/>
            <a:ext cx="10569575" cy="64008"/>
            <a:chOff x="1522413" y="1514475"/>
            <a:chExt cx="10569575" cy="64008"/>
          </a:xfrm>
        </p:grpSpPr>
        <p:sp>
          <p:nvSpPr>
            <p:cNvPr id="8" name="Freeform 7"/>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8"/>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9"/>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p:nvPr>
        </p:nvSpPr>
        <p:spPr/>
        <p:txBody>
          <a:bodyPr vert="eaVert"/>
          <a:lstStyle>
            <a:lvl5pPr>
              <a:defRPr/>
            </a:lvl5pPr>
            <a:lvl6pPr marL="1956816">
              <a:defRPr/>
            </a:lvl6pPr>
            <a:lvl7pPr marL="1956816">
              <a:defRPr/>
            </a:lvl7pPr>
            <a:lvl8pPr marL="1956816">
              <a:defRPr/>
            </a:lvl8pPr>
            <a:lvl9pPr marL="1956816">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126793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61612" y="274639"/>
            <a:ext cx="1371600" cy="5901747"/>
          </a:xfrm>
        </p:spPr>
        <p:txBody>
          <a:bodyPr vert="eaVert"/>
          <a:lstStyle/>
          <a:p>
            <a:r>
              <a:rPr lang="en-US"/>
              <a:t>Click to edit Master title style</a:t>
            </a:r>
            <a:endParaRPr/>
          </a:p>
        </p:txBody>
      </p:sp>
      <p:grpSp>
        <p:nvGrpSpPr>
          <p:cNvPr id="7" name="line" descr="Line graphic"/>
          <p:cNvGrpSpPr/>
          <p:nvPr/>
        </p:nvGrpSpPr>
        <p:grpSpPr bwMode="invGray">
          <a:xfrm rot="5400000">
            <a:off x="6864412" y="3472598"/>
            <a:ext cx="6492240" cy="64008"/>
            <a:chOff x="1522413" y="1514475"/>
            <a:chExt cx="10569575" cy="64008"/>
          </a:xfrm>
        </p:grpSpPr>
        <p:sp>
          <p:nvSpPr>
            <p:cNvPr id="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hasCustomPrompt="1"/>
          </p:nvPr>
        </p:nvSpPr>
        <p:spPr>
          <a:xfrm>
            <a:off x="608012" y="277813"/>
            <a:ext cx="9144001" cy="5898573"/>
          </a:xfrm>
        </p:spPr>
        <p:txBody>
          <a:bodyPr vert="eaVert"/>
          <a:lstStyle>
            <a:lvl5pPr>
              <a:defRPr/>
            </a:lvl5pPr>
            <a:lvl6pPr marL="1261872" indent="0">
              <a:buNone/>
              <a:defRPr/>
            </a:lvl6pPr>
            <a:lvl7pPr>
              <a:defRPr/>
            </a:lvl7pPr>
            <a:lvl8pPr>
              <a:defRPr baseline="0"/>
            </a:lvl8pPr>
            <a:lvl9pPr>
              <a:defRPr baseline="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endParaRPr lang="en-US" dirty="0"/>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211791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4" y="274638"/>
            <a:ext cx="9143998" cy="1020762"/>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4" y="1905000"/>
            <a:ext cx="9144000" cy="4267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22413" y="6400801"/>
            <a:ext cx="6324599" cy="276226"/>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IN"/>
              <a:t>Prepared By: Mr. Chetan C. Kamani, Lecturer computer department, GP, Jamnagar</a:t>
            </a:r>
            <a:endParaRPr lang="en-US" dirty="0"/>
          </a:p>
        </p:txBody>
      </p:sp>
      <p:sp>
        <p:nvSpPr>
          <p:cNvPr id="4" name="Date Placeholder 3"/>
          <p:cNvSpPr>
            <a:spLocks noGrp="1"/>
          </p:cNvSpPr>
          <p:nvPr>
            <p:ph type="dt" sz="half" idx="2"/>
          </p:nvPr>
        </p:nvSpPr>
        <p:spPr>
          <a:xfrm>
            <a:off x="8075612" y="6400801"/>
            <a:ext cx="1243859" cy="276226"/>
          </a:xfrm>
          <a:prstGeom prst="rect">
            <a:avLst/>
          </a:prstGeom>
        </p:spPr>
        <p:txBody>
          <a:bodyPr vert="horz" lIns="91440" tIns="45720" rIns="91440" bIns="45720" rtlCol="0" anchor="ctr"/>
          <a:lstStyle>
            <a:lvl1pPr algn="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9523412" y="6400801"/>
            <a:ext cx="1143002" cy="276226"/>
          </a:xfrm>
          <a:prstGeom prst="rect">
            <a:avLst/>
          </a:prstGeom>
        </p:spPr>
        <p:txBody>
          <a:bodyPr vert="horz" lIns="91440" tIns="45720" rIns="91440" bIns="45720" rtlCol="0" anchor="ctr"/>
          <a:lstStyle>
            <a:lvl1pPr algn="r">
              <a:defRPr sz="1200">
                <a:solidFill>
                  <a:schemeClr val="tx1">
                    <a:tint val="75000"/>
                  </a:schemeClr>
                </a:solidFill>
              </a:defRPr>
            </a:lvl1pPr>
          </a:lstStyle>
          <a:p>
            <a:fld id="{25BA54BD-C84D-46CE-8B72-31BFB26ABA43}" type="slidenum">
              <a:rPr lang="en-US" smtClean="0"/>
              <a:pPr/>
              <a:t>‹#›</a:t>
            </a:fld>
            <a:endParaRPr lang="en-US"/>
          </a:p>
        </p:txBody>
      </p:sp>
    </p:spTree>
    <p:extLst>
      <p:ext uri="{BB962C8B-B14F-4D97-AF65-F5344CB8AC3E}">
        <p14:creationId xmlns:p14="http://schemas.microsoft.com/office/powerpoint/2010/main" val="5356364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76072"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804672"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332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618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904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6pPr>
      <a:lvl7pPr marL="17190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7pPr>
      <a:lvl8pPr marL="19476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8pPr>
      <a:lvl9pPr marL="21762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4259" y="1754628"/>
            <a:ext cx="9144000" cy="2667000"/>
          </a:xfrm>
        </p:spPr>
        <p:txBody>
          <a:bodyPr/>
          <a:lstStyle/>
          <a:p>
            <a:pPr algn="ctr"/>
            <a:r>
              <a:rPr lang="en-US" sz="4000" dirty="0"/>
              <a:t>Advanced Computer Network </a:t>
            </a:r>
            <a:br>
              <a:rPr lang="en-US" sz="4000" dirty="0"/>
            </a:br>
            <a:r>
              <a:rPr lang="en-US" sz="4000" dirty="0"/>
              <a:t>(4350706)</a:t>
            </a:r>
            <a:br>
              <a:rPr lang="en-US" sz="4000" dirty="0"/>
            </a:br>
            <a:br>
              <a:rPr lang="en-US" sz="4000" dirty="0"/>
            </a:br>
            <a:r>
              <a:rPr lang="en-US" sz="4000" dirty="0"/>
              <a:t>Unit-2</a:t>
            </a:r>
            <a:br>
              <a:rPr lang="en-US" sz="4000" dirty="0"/>
            </a:br>
            <a:r>
              <a:rPr lang="en-US" sz="4000" dirty="0"/>
              <a:t>Next Generation IP</a:t>
            </a:r>
          </a:p>
        </p:txBody>
      </p:sp>
      <p:sp>
        <p:nvSpPr>
          <p:cNvPr id="3" name="Subtitle 2"/>
          <p:cNvSpPr>
            <a:spLocks noGrp="1"/>
          </p:cNvSpPr>
          <p:nvPr>
            <p:ph type="subTitle" idx="1"/>
          </p:nvPr>
        </p:nvSpPr>
        <p:spPr/>
        <p:txBody>
          <a:bodyPr>
            <a:normAutofit fontScale="62500" lnSpcReduction="20000"/>
          </a:bodyPr>
          <a:lstStyle/>
          <a:p>
            <a:pPr>
              <a:lnSpc>
                <a:spcPct val="120000"/>
              </a:lnSpc>
            </a:pPr>
            <a:r>
              <a:rPr lang="en-US" dirty="0"/>
              <a:t>Prepared By : </a:t>
            </a:r>
          </a:p>
          <a:p>
            <a:pPr>
              <a:lnSpc>
                <a:spcPct val="120000"/>
              </a:lnSpc>
            </a:pPr>
            <a:r>
              <a:rPr lang="en-US" dirty="0"/>
              <a:t>Mr. Chetan C. Kamani</a:t>
            </a:r>
          </a:p>
          <a:p>
            <a:pPr>
              <a:lnSpc>
                <a:spcPct val="120000"/>
              </a:lnSpc>
            </a:pPr>
            <a:r>
              <a:rPr lang="en-US" dirty="0"/>
              <a:t>Lecturer, Computer Engineering Department</a:t>
            </a:r>
          </a:p>
          <a:p>
            <a:pPr>
              <a:lnSpc>
                <a:spcPct val="120000"/>
              </a:lnSpc>
            </a:pPr>
            <a:r>
              <a:rPr lang="en-US" dirty="0"/>
              <a:t>Government Polytechnic, Jamnagar</a:t>
            </a:r>
          </a:p>
          <a:p>
            <a:pPr>
              <a:lnSpc>
                <a:spcPct val="120000"/>
              </a:lnSpc>
            </a:pPr>
            <a:endParaRPr lang="en-US" dirty="0"/>
          </a:p>
        </p:txBody>
      </p:sp>
    </p:spTree>
    <p:extLst>
      <p:ext uri="{BB962C8B-B14F-4D97-AF65-F5344CB8AC3E}">
        <p14:creationId xmlns:p14="http://schemas.microsoft.com/office/powerpoint/2010/main" val="1920111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Topics to be discussed</a:t>
            </a:r>
          </a:p>
        </p:txBody>
      </p:sp>
      <p:sp>
        <p:nvSpPr>
          <p:cNvPr id="14" name="Content Placeholder 13"/>
          <p:cNvSpPr>
            <a:spLocks noGrp="1"/>
          </p:cNvSpPr>
          <p:nvPr>
            <p:ph idx="1"/>
          </p:nvPr>
        </p:nvSpPr>
        <p:spPr/>
        <p:txBody>
          <a:bodyPr>
            <a:normAutofit/>
          </a:bodyPr>
          <a:lstStyle/>
          <a:p>
            <a:r>
              <a:rPr lang="en-US" dirty="0"/>
              <a:t>IPv6 Addressing</a:t>
            </a:r>
          </a:p>
          <a:p>
            <a:pPr lvl="1"/>
            <a:r>
              <a:rPr lang="en-US" dirty="0"/>
              <a:t>Representation</a:t>
            </a:r>
          </a:p>
          <a:p>
            <a:pPr lvl="2"/>
            <a:r>
              <a:rPr lang="en-US" dirty="0"/>
              <a:t>Abbreviation, Mixed Notation and CIDR notation.</a:t>
            </a:r>
          </a:p>
          <a:p>
            <a:pPr lvl="1"/>
            <a:r>
              <a:rPr lang="en-US" dirty="0"/>
              <a:t>Address space</a:t>
            </a:r>
          </a:p>
          <a:p>
            <a:pPr lvl="2"/>
            <a:r>
              <a:rPr lang="en-US" dirty="0"/>
              <a:t>Three address types.</a:t>
            </a:r>
          </a:p>
          <a:p>
            <a:pPr lvl="1"/>
            <a:r>
              <a:rPr lang="en-US" dirty="0"/>
              <a:t>Address space allocation</a:t>
            </a:r>
          </a:p>
          <a:p>
            <a:pPr lvl="2"/>
            <a:endParaRPr lang="en-US" dirty="0"/>
          </a:p>
          <a:p>
            <a:pPr lvl="1"/>
            <a:r>
              <a:rPr lang="en-US" dirty="0"/>
              <a:t>Special Addresses</a:t>
            </a:r>
          </a:p>
          <a:p>
            <a:pPr lvl="1"/>
            <a:r>
              <a:rPr lang="en-US" dirty="0"/>
              <a:t>Autoconfiguration</a:t>
            </a:r>
          </a:p>
          <a:p>
            <a:pPr lvl="1"/>
            <a:r>
              <a:rPr lang="en-US" dirty="0"/>
              <a:t>Renumbering</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128536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IPv6 Addressing</a:t>
            </a:r>
          </a:p>
        </p:txBody>
      </p:sp>
      <p:sp>
        <p:nvSpPr>
          <p:cNvPr id="14" name="Content Placeholder 13"/>
          <p:cNvSpPr>
            <a:spLocks noGrp="1"/>
          </p:cNvSpPr>
          <p:nvPr>
            <p:ph idx="1"/>
          </p:nvPr>
        </p:nvSpPr>
        <p:spPr/>
        <p:txBody>
          <a:bodyPr>
            <a:normAutofit/>
          </a:bodyPr>
          <a:lstStyle/>
          <a:p>
            <a:r>
              <a:rPr lang="en-IN" dirty="0">
                <a:effectLst/>
                <a:latin typeface="Calibri" panose="020F0502020204030204" pitchFamily="34" charset="0"/>
                <a:ea typeface="Calibri" panose="020F0502020204030204" pitchFamily="34" charset="0"/>
                <a:cs typeface="Shruti" panose="020B0502040204020203" pitchFamily="34" charset="0"/>
              </a:rPr>
              <a:t>The main reason for migration from IPv4 to IPv6 is the small size of the address space in IPv4</a:t>
            </a:r>
          </a:p>
          <a:p>
            <a:r>
              <a:rPr lang="en-IN" dirty="0"/>
              <a:t>An IPv6 address is 128 bits or 16 bytes (octets) long, four times the address length in IPv4.</a:t>
            </a:r>
            <a:endParaRPr lang="en-US"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3</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4197113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Representation</a:t>
            </a:r>
          </a:p>
        </p:txBody>
      </p:sp>
      <p:sp>
        <p:nvSpPr>
          <p:cNvPr id="14" name="Content Placeholder 13"/>
          <p:cNvSpPr>
            <a:spLocks noGrp="1"/>
          </p:cNvSpPr>
          <p:nvPr>
            <p:ph idx="1"/>
          </p:nvPr>
        </p:nvSpPr>
        <p:spPr/>
        <p:txBody>
          <a:bodyPr>
            <a:normAutofit/>
          </a:bodyPr>
          <a:lstStyle/>
          <a:p>
            <a:r>
              <a:rPr lang="en-IN" dirty="0"/>
              <a:t>A computer normally stores the address in binary, but it is clear that 128 bits cannot easily be handled by humans. </a:t>
            </a:r>
          </a:p>
          <a:p>
            <a:r>
              <a:rPr lang="en-IN" dirty="0"/>
              <a:t>Several notations have been proposed to represent IPv6 addresses when they are handled by humans. </a:t>
            </a:r>
          </a:p>
          <a:p>
            <a:r>
              <a:rPr lang="en-IN" dirty="0"/>
              <a:t>The following shows two of these notations: </a:t>
            </a:r>
          </a:p>
          <a:p>
            <a:pPr lvl="1"/>
            <a:r>
              <a:rPr lang="en-IN" dirty="0"/>
              <a:t>binary </a:t>
            </a:r>
          </a:p>
          <a:p>
            <a:pPr lvl="1"/>
            <a:r>
              <a:rPr lang="en-IN" dirty="0"/>
              <a:t>colon hexadecimal</a:t>
            </a:r>
          </a:p>
          <a:p>
            <a:endParaRPr lang="en-US" b="1"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4</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pic>
        <p:nvPicPr>
          <p:cNvPr id="4" name="Picture 3">
            <a:extLst>
              <a:ext uri="{FF2B5EF4-FFF2-40B4-BE49-F238E27FC236}">
                <a16:creationId xmlns:a16="http://schemas.microsoft.com/office/drawing/2014/main" id="{B79623CA-90BB-06D3-CBD3-BFE1F5AE4B16}"/>
              </a:ext>
            </a:extLst>
          </p:cNvPr>
          <p:cNvPicPr>
            <a:picLocks noChangeAspect="1"/>
          </p:cNvPicPr>
          <p:nvPr/>
        </p:nvPicPr>
        <p:blipFill rotWithShape="1">
          <a:blip r:embed="rId2"/>
          <a:srcRect l="15245" t="42211" r="15533" b="47946"/>
          <a:stretch/>
        </p:blipFill>
        <p:spPr bwMode="auto">
          <a:xfrm>
            <a:off x="981844" y="5229200"/>
            <a:ext cx="10485011" cy="79208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581320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45141"/>
            <a:ext cx="9143998" cy="1020762"/>
          </a:xfrm>
        </p:spPr>
        <p:txBody>
          <a:bodyPr/>
          <a:lstStyle/>
          <a:p>
            <a:r>
              <a:rPr lang="en-US" dirty="0"/>
              <a:t>Abbreviation</a:t>
            </a:r>
          </a:p>
        </p:txBody>
      </p:sp>
      <p:sp>
        <p:nvSpPr>
          <p:cNvPr id="14" name="Content Placeholder 13"/>
          <p:cNvSpPr>
            <a:spLocks noGrp="1"/>
          </p:cNvSpPr>
          <p:nvPr>
            <p:ph idx="1"/>
          </p:nvPr>
        </p:nvSpPr>
        <p:spPr>
          <a:xfrm>
            <a:off x="1522414" y="1754088"/>
            <a:ext cx="9900590" cy="4267200"/>
          </a:xfrm>
        </p:spPr>
        <p:txBody>
          <a:bodyPr>
            <a:normAutofit fontScale="92500"/>
          </a:bodyPr>
          <a:lstStyle/>
          <a:p>
            <a:pPr algn="just"/>
            <a:r>
              <a:rPr lang="en-IN" dirty="0"/>
              <a:t>Although an IPv6 address, even in hexadecimal format, is very long, many of the digits are zeros. In this case, we can abbreviate the address. </a:t>
            </a:r>
          </a:p>
          <a:p>
            <a:pPr algn="just"/>
            <a:r>
              <a:rPr lang="en-IN" dirty="0"/>
              <a:t>The leading zeros of a section can be omitted. Using this form of abbreviation, 0074 can be written as 74, 000F as F, and 0000 as 0. Note that 3210 cannot be abbreviated.</a:t>
            </a:r>
          </a:p>
          <a:p>
            <a:pPr algn="just"/>
            <a:r>
              <a:rPr lang="en-IN" dirty="0"/>
              <a:t>Further abbreviation, often called zero compression, can be applied to colon hex notation if there are consecutive sections consisting of zeros only. We can remove all the zeros and replace them with a double semicolon.</a:t>
            </a:r>
          </a:p>
          <a:p>
            <a:pPr algn="just"/>
            <a:r>
              <a:rPr lang="en-IN" dirty="0"/>
              <a:t>Note that this type of abbreviation is allowed only once per address. If there is more than one run of zero sections, only one of them can be compressed.</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5</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pic>
        <p:nvPicPr>
          <p:cNvPr id="5" name="Picture 4">
            <a:extLst>
              <a:ext uri="{FF2B5EF4-FFF2-40B4-BE49-F238E27FC236}">
                <a16:creationId xmlns:a16="http://schemas.microsoft.com/office/drawing/2014/main" id="{B1E6F552-9114-E439-2C98-AD8F67F61918}"/>
              </a:ext>
            </a:extLst>
          </p:cNvPr>
          <p:cNvPicPr>
            <a:picLocks noChangeAspect="1"/>
          </p:cNvPicPr>
          <p:nvPr/>
        </p:nvPicPr>
        <p:blipFill rotWithShape="1">
          <a:blip r:embed="rId2"/>
          <a:srcRect l="20607" t="50552" r="21826" b="45944"/>
          <a:stretch/>
        </p:blipFill>
        <p:spPr bwMode="auto">
          <a:xfrm>
            <a:off x="1462607" y="5589240"/>
            <a:ext cx="10021252" cy="64807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03092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45141"/>
            <a:ext cx="9143998" cy="1020762"/>
          </a:xfrm>
        </p:spPr>
        <p:txBody>
          <a:bodyPr/>
          <a:lstStyle/>
          <a:p>
            <a:r>
              <a:rPr lang="en-US" dirty="0"/>
              <a:t>Mixed Notation</a:t>
            </a:r>
          </a:p>
        </p:txBody>
      </p:sp>
      <p:sp>
        <p:nvSpPr>
          <p:cNvPr id="14" name="Content Placeholder 13"/>
          <p:cNvSpPr>
            <a:spLocks noGrp="1"/>
          </p:cNvSpPr>
          <p:nvPr>
            <p:ph idx="1"/>
          </p:nvPr>
        </p:nvSpPr>
        <p:spPr>
          <a:xfrm>
            <a:off x="1522414" y="1754088"/>
            <a:ext cx="9900590" cy="4267200"/>
          </a:xfrm>
        </p:spPr>
        <p:txBody>
          <a:bodyPr>
            <a:normAutofit/>
          </a:bodyPr>
          <a:lstStyle/>
          <a:p>
            <a:pPr algn="just"/>
            <a:r>
              <a:rPr lang="en-IN" dirty="0"/>
              <a:t>Sometimes we see a mixed representation of an IPv6 address: colon hex and dotted-decimal notation. </a:t>
            </a:r>
          </a:p>
          <a:p>
            <a:pPr algn="just"/>
            <a:r>
              <a:rPr lang="en-IN" dirty="0"/>
              <a:t>This is appropriate during the transition period in which an IPv4 address is embedded in an IPv6 address (as the rightmost 32 bits). </a:t>
            </a:r>
          </a:p>
          <a:p>
            <a:pPr algn="just"/>
            <a:r>
              <a:rPr lang="en-IN" dirty="0"/>
              <a:t>We can use the colon hex notation for the leftmost six sections and four-byte dotted-decimal notation instead of the rightmost two sections. </a:t>
            </a:r>
          </a:p>
          <a:p>
            <a:pPr algn="just"/>
            <a:r>
              <a:rPr lang="en-IN" dirty="0"/>
              <a:t>However, this happens when all or most of the leftmost sections of the IPv6 address are 0s. For example, the address </a:t>
            </a:r>
            <a:r>
              <a:rPr lang="en-IN" b="1" dirty="0">
                <a:solidFill>
                  <a:srgbClr val="FFFF00"/>
                </a:solidFill>
              </a:rPr>
              <a:t>(::130.24.24.18)</a:t>
            </a:r>
            <a:r>
              <a:rPr lang="en-IN" dirty="0">
                <a:solidFill>
                  <a:srgbClr val="FFFF00"/>
                </a:solidFill>
              </a:rPr>
              <a:t> </a:t>
            </a:r>
            <a:r>
              <a:rPr lang="en-IN" dirty="0"/>
              <a:t>is a legitimate address in IPv6, in which the zero compression shows that all 96 leftmost bits of the address are zeros.</a:t>
            </a:r>
          </a:p>
          <a:p>
            <a:pPr algn="just"/>
            <a:endParaRPr lang="en-IN"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6</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355285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45141"/>
            <a:ext cx="9143998" cy="1020762"/>
          </a:xfrm>
        </p:spPr>
        <p:txBody>
          <a:bodyPr/>
          <a:lstStyle/>
          <a:p>
            <a:r>
              <a:rPr lang="en-US" dirty="0"/>
              <a:t>CIDR Notation</a:t>
            </a:r>
          </a:p>
        </p:txBody>
      </p:sp>
      <p:sp>
        <p:nvSpPr>
          <p:cNvPr id="14" name="Content Placeholder 13"/>
          <p:cNvSpPr>
            <a:spLocks noGrp="1"/>
          </p:cNvSpPr>
          <p:nvPr>
            <p:ph idx="1"/>
          </p:nvPr>
        </p:nvSpPr>
        <p:spPr>
          <a:xfrm>
            <a:off x="1522414" y="1754088"/>
            <a:ext cx="9900590" cy="4267200"/>
          </a:xfrm>
        </p:spPr>
        <p:txBody>
          <a:bodyPr>
            <a:normAutofit/>
          </a:bodyPr>
          <a:lstStyle/>
          <a:p>
            <a:pPr algn="just"/>
            <a:r>
              <a:rPr lang="en-IN" dirty="0"/>
              <a:t>IPv6 uses hierarchical addressing. For this reason, IPv6 allows slash or CIDR notation. </a:t>
            </a:r>
          </a:p>
          <a:p>
            <a:pPr algn="just"/>
            <a:r>
              <a:rPr lang="en-IN" dirty="0"/>
              <a:t>For example, the following shows how we can define a prefix of 60 bits using CIDR.</a:t>
            </a:r>
          </a:p>
          <a:p>
            <a:pPr algn="just"/>
            <a:endParaRPr lang="en-IN"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7</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dirty="0"/>
              <a:t>Prepared By: Mr. Chetan C. Kamani, Lecturer computer department, GP, Jamnagar</a:t>
            </a:r>
          </a:p>
        </p:txBody>
      </p:sp>
      <p:pic>
        <p:nvPicPr>
          <p:cNvPr id="4" name="Picture 3">
            <a:extLst>
              <a:ext uri="{FF2B5EF4-FFF2-40B4-BE49-F238E27FC236}">
                <a16:creationId xmlns:a16="http://schemas.microsoft.com/office/drawing/2014/main" id="{71A690B1-321B-EBA5-6206-894107D40533}"/>
              </a:ext>
            </a:extLst>
          </p:cNvPr>
          <p:cNvPicPr>
            <a:picLocks noChangeAspect="1"/>
          </p:cNvPicPr>
          <p:nvPr/>
        </p:nvPicPr>
        <p:blipFill rotWithShape="1">
          <a:blip r:embed="rId2"/>
          <a:srcRect l="23085" t="65850" r="45916" b="27729"/>
          <a:stretch/>
        </p:blipFill>
        <p:spPr bwMode="auto">
          <a:xfrm>
            <a:off x="2837638" y="4077072"/>
            <a:ext cx="6513547" cy="71555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779042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45141"/>
            <a:ext cx="9143998" cy="1020762"/>
          </a:xfrm>
        </p:spPr>
        <p:txBody>
          <a:bodyPr/>
          <a:lstStyle/>
          <a:p>
            <a:r>
              <a:rPr lang="en-US" dirty="0"/>
              <a:t>Address Space</a:t>
            </a:r>
          </a:p>
        </p:txBody>
      </p:sp>
      <p:sp>
        <p:nvSpPr>
          <p:cNvPr id="14" name="Content Placeholder 13"/>
          <p:cNvSpPr>
            <a:spLocks noGrp="1"/>
          </p:cNvSpPr>
          <p:nvPr>
            <p:ph idx="1"/>
          </p:nvPr>
        </p:nvSpPr>
        <p:spPr>
          <a:xfrm>
            <a:off x="1522414" y="1754088"/>
            <a:ext cx="9900590" cy="4267200"/>
          </a:xfrm>
        </p:spPr>
        <p:txBody>
          <a:bodyPr>
            <a:normAutofit/>
          </a:bodyPr>
          <a:lstStyle/>
          <a:p>
            <a:pPr algn="just"/>
            <a:r>
              <a:rPr lang="en-IN" dirty="0"/>
              <a:t>The address space of IPv6 contains 2</a:t>
            </a:r>
            <a:r>
              <a:rPr lang="en-IN" baseline="30000" dirty="0"/>
              <a:t>128</a:t>
            </a:r>
            <a:r>
              <a:rPr lang="en-IN" dirty="0"/>
              <a:t> addresses. </a:t>
            </a:r>
          </a:p>
          <a:p>
            <a:pPr algn="just"/>
            <a:r>
              <a:rPr lang="en-IN" dirty="0"/>
              <a:t>This address space is 2</a:t>
            </a:r>
            <a:r>
              <a:rPr lang="en-IN" baseline="30000" dirty="0"/>
              <a:t>96</a:t>
            </a:r>
            <a:r>
              <a:rPr lang="en-IN" dirty="0"/>
              <a:t> times the IPv4 address—definitely no address depletion—as shown, the size of the space is as follows</a:t>
            </a:r>
          </a:p>
          <a:p>
            <a:pPr marL="0" indent="0" algn="just">
              <a:buNone/>
            </a:pPr>
            <a:r>
              <a:rPr lang="en-IN" dirty="0"/>
              <a:t>	2</a:t>
            </a:r>
            <a:r>
              <a:rPr lang="en-IN" baseline="30000" dirty="0"/>
              <a:t>128</a:t>
            </a:r>
            <a:r>
              <a:rPr lang="en-IN" dirty="0"/>
              <a:t> = 340, 282, 366, 920, 938, 463, 374, 607, 431, 768, 211, 456. </a:t>
            </a:r>
          </a:p>
          <a:p>
            <a:pPr algn="just"/>
            <a:r>
              <a:rPr lang="en-IN" dirty="0"/>
              <a:t>Address depletion in this version is impossible.</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8</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dirty="0"/>
              <a:t>Prepared By: Mr. Chetan C. Kamani, Lecturer computer department, GP, Jamnagar</a:t>
            </a:r>
          </a:p>
        </p:txBody>
      </p:sp>
    </p:spTree>
    <p:extLst>
      <p:ext uri="{BB962C8B-B14F-4D97-AF65-F5344CB8AC3E}">
        <p14:creationId xmlns:p14="http://schemas.microsoft.com/office/powerpoint/2010/main" val="335519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45141"/>
            <a:ext cx="9143998" cy="1020762"/>
          </a:xfrm>
        </p:spPr>
        <p:txBody>
          <a:bodyPr/>
          <a:lstStyle/>
          <a:p>
            <a:r>
              <a:rPr lang="en-US" dirty="0"/>
              <a:t>Three Address Types</a:t>
            </a:r>
          </a:p>
        </p:txBody>
      </p:sp>
      <p:sp>
        <p:nvSpPr>
          <p:cNvPr id="14" name="Content Placeholder 13"/>
          <p:cNvSpPr>
            <a:spLocks noGrp="1"/>
          </p:cNvSpPr>
          <p:nvPr>
            <p:ph idx="1"/>
          </p:nvPr>
        </p:nvSpPr>
        <p:spPr>
          <a:xfrm>
            <a:off x="1522414" y="1754088"/>
            <a:ext cx="9900590" cy="4267200"/>
          </a:xfrm>
        </p:spPr>
        <p:txBody>
          <a:bodyPr>
            <a:normAutofit/>
          </a:bodyPr>
          <a:lstStyle/>
          <a:p>
            <a:pPr algn="just"/>
            <a:r>
              <a:rPr lang="en-IN" sz="2800" dirty="0"/>
              <a:t>In IPv6, a destination address can belong to one of three categories: </a:t>
            </a:r>
          </a:p>
          <a:p>
            <a:pPr lvl="1" algn="just"/>
            <a:r>
              <a:rPr lang="en-IN" sz="2400" dirty="0"/>
              <a:t>Unicast</a:t>
            </a:r>
          </a:p>
          <a:p>
            <a:pPr lvl="1" algn="just"/>
            <a:r>
              <a:rPr lang="en-IN" sz="2400" dirty="0"/>
              <a:t>Anycast</a:t>
            </a:r>
          </a:p>
          <a:p>
            <a:pPr lvl="1" algn="just"/>
            <a:r>
              <a:rPr lang="en-IN" sz="2400" dirty="0"/>
              <a:t>Multicast.</a:t>
            </a:r>
          </a:p>
          <a:p>
            <a:pPr lvl="1" algn="just"/>
            <a:endParaRPr lang="en-IN" sz="2400" b="1" i="1" dirty="0"/>
          </a:p>
          <a:p>
            <a:pPr marL="274320" lvl="1" indent="0" algn="just">
              <a:buNone/>
            </a:pPr>
            <a:r>
              <a:rPr lang="en-IN" sz="2400" b="1" i="1" dirty="0">
                <a:solidFill>
                  <a:srgbClr val="FFFF00"/>
                </a:solidFill>
              </a:rPr>
              <a:t>*IPv6 does not support broadcasting.</a:t>
            </a:r>
          </a:p>
          <a:p>
            <a:pPr algn="just"/>
            <a:endParaRPr lang="en-IN" sz="2800"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9</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dirty="0"/>
              <a:t>Prepared By: Mr. Chetan C. Kamani, Lecturer computer department, GP, Jamnagar</a:t>
            </a:r>
          </a:p>
        </p:txBody>
      </p:sp>
    </p:spTree>
    <p:extLst>
      <p:ext uri="{BB962C8B-B14F-4D97-AF65-F5344CB8AC3E}">
        <p14:creationId xmlns:p14="http://schemas.microsoft.com/office/powerpoint/2010/main" val="4022938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45141"/>
            <a:ext cx="9143998" cy="1020762"/>
          </a:xfrm>
        </p:spPr>
        <p:txBody>
          <a:bodyPr/>
          <a:lstStyle/>
          <a:p>
            <a:r>
              <a:rPr lang="en-US" dirty="0"/>
              <a:t>Address space allocation</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10</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dirty="0"/>
              <a:t>Prepared By: Mr. Chetan C. Kamani, Lecturer computer department, GP, Jamnagar</a:t>
            </a:r>
          </a:p>
        </p:txBody>
      </p:sp>
      <p:pic>
        <p:nvPicPr>
          <p:cNvPr id="4" name="Content Placeholder 3">
            <a:extLst>
              <a:ext uri="{FF2B5EF4-FFF2-40B4-BE49-F238E27FC236}">
                <a16:creationId xmlns:a16="http://schemas.microsoft.com/office/drawing/2014/main" id="{5444FA13-7A93-7324-7345-62E0B79C44ED}"/>
              </a:ext>
            </a:extLst>
          </p:cNvPr>
          <p:cNvPicPr>
            <a:picLocks noGrp="1" noChangeAspect="1"/>
          </p:cNvPicPr>
          <p:nvPr>
            <p:ph idx="1"/>
          </p:nvPr>
        </p:nvPicPr>
        <p:blipFill rotWithShape="1">
          <a:blip r:embed="rId2"/>
          <a:srcRect l="14708" t="43483" r="14663" b="26486"/>
          <a:stretch/>
        </p:blipFill>
        <p:spPr bwMode="auto">
          <a:xfrm>
            <a:off x="515710" y="2492896"/>
            <a:ext cx="11157403" cy="252028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59729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45141"/>
            <a:ext cx="9143998" cy="1020762"/>
          </a:xfrm>
        </p:spPr>
        <p:txBody>
          <a:bodyPr/>
          <a:lstStyle/>
          <a:p>
            <a:r>
              <a:rPr lang="en-US" dirty="0"/>
              <a:t>Global Unicast Address</a:t>
            </a:r>
          </a:p>
        </p:txBody>
      </p:sp>
      <p:sp>
        <p:nvSpPr>
          <p:cNvPr id="14" name="Content Placeholder 13"/>
          <p:cNvSpPr>
            <a:spLocks noGrp="1"/>
          </p:cNvSpPr>
          <p:nvPr>
            <p:ph idx="1"/>
          </p:nvPr>
        </p:nvSpPr>
        <p:spPr>
          <a:xfrm>
            <a:off x="1522414" y="1754088"/>
            <a:ext cx="9900590" cy="4267200"/>
          </a:xfrm>
        </p:spPr>
        <p:txBody>
          <a:bodyPr>
            <a:normAutofit lnSpcReduction="10000"/>
          </a:bodyPr>
          <a:lstStyle/>
          <a:p>
            <a:pPr algn="just"/>
            <a:r>
              <a:rPr lang="en-IN" sz="2800" dirty="0"/>
              <a:t>The block in the address space that is used for unicast (one-to-one) communication between two hosts in the Internet is called the global unicast address block. </a:t>
            </a:r>
          </a:p>
          <a:p>
            <a:pPr algn="just"/>
            <a:r>
              <a:rPr lang="en-IN" sz="2800" dirty="0"/>
              <a:t>CIDR for the block is 2000::/3, which means that the three leftmost bits are the same for all addresses in this block (001). </a:t>
            </a:r>
          </a:p>
          <a:p>
            <a:pPr algn="just"/>
            <a:r>
              <a:rPr lang="en-IN" sz="2800" dirty="0"/>
              <a:t>The size of this block is 2</a:t>
            </a:r>
            <a:r>
              <a:rPr lang="en-IN" sz="2800" baseline="30000" dirty="0"/>
              <a:t>125</a:t>
            </a:r>
            <a:r>
              <a:rPr lang="en-IN" sz="2800" dirty="0"/>
              <a:t> bits, which is more than enough for Internet expansion for many years to come. </a:t>
            </a:r>
          </a:p>
          <a:p>
            <a:pPr algn="just"/>
            <a:r>
              <a:rPr lang="en-IN" sz="2800" dirty="0"/>
              <a:t>An address in this block is divided into three parts: global routing prefix (n bits), subnet identifier (m bits), and interface identifier (q bits), as shown in Figure</a:t>
            </a:r>
          </a:p>
          <a:p>
            <a:pPr algn="just"/>
            <a:endParaRPr lang="en-IN" sz="2800"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11</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dirty="0"/>
              <a:t>Prepared By: Mr. Chetan C. Kamani, Lecturer computer department, GP, Jamnagar</a:t>
            </a:r>
          </a:p>
        </p:txBody>
      </p:sp>
    </p:spTree>
    <p:extLst>
      <p:ext uri="{BB962C8B-B14F-4D97-AF65-F5344CB8AC3E}">
        <p14:creationId xmlns:p14="http://schemas.microsoft.com/office/powerpoint/2010/main" val="27286652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45141"/>
            <a:ext cx="9143998" cy="1020762"/>
          </a:xfrm>
        </p:spPr>
        <p:txBody>
          <a:bodyPr/>
          <a:lstStyle/>
          <a:p>
            <a:r>
              <a:rPr lang="en-US" dirty="0"/>
              <a:t>Global Unicast Address</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12</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dirty="0"/>
              <a:t>Prepared By: Mr. Chetan C. Kamani, Lecturer computer department, GP, Jamnagar</a:t>
            </a:r>
          </a:p>
        </p:txBody>
      </p:sp>
      <p:pic>
        <p:nvPicPr>
          <p:cNvPr id="4" name="Content Placeholder 3">
            <a:extLst>
              <a:ext uri="{FF2B5EF4-FFF2-40B4-BE49-F238E27FC236}">
                <a16:creationId xmlns:a16="http://schemas.microsoft.com/office/drawing/2014/main" id="{A29F7013-ECAA-412B-C610-546EB23D2D52}"/>
              </a:ext>
            </a:extLst>
          </p:cNvPr>
          <p:cNvPicPr>
            <a:picLocks noGrp="1" noChangeAspect="1"/>
          </p:cNvPicPr>
          <p:nvPr>
            <p:ph idx="1"/>
          </p:nvPr>
        </p:nvPicPr>
        <p:blipFill rotWithShape="1">
          <a:blip r:embed="rId2"/>
          <a:srcRect l="15045" t="16269" r="14811" b="7560"/>
          <a:stretch/>
        </p:blipFill>
        <p:spPr bwMode="auto">
          <a:xfrm>
            <a:off x="2205980" y="1700808"/>
            <a:ext cx="8000309" cy="461535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41755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45141"/>
            <a:ext cx="9143998" cy="1020762"/>
          </a:xfrm>
        </p:spPr>
        <p:txBody>
          <a:bodyPr/>
          <a:lstStyle/>
          <a:p>
            <a:r>
              <a:rPr lang="en-US" dirty="0"/>
              <a:t>Global Unicast Address</a:t>
            </a:r>
          </a:p>
        </p:txBody>
      </p:sp>
      <p:sp>
        <p:nvSpPr>
          <p:cNvPr id="14" name="Content Placeholder 13"/>
          <p:cNvSpPr>
            <a:spLocks noGrp="1"/>
          </p:cNvSpPr>
          <p:nvPr>
            <p:ph idx="1"/>
          </p:nvPr>
        </p:nvSpPr>
        <p:spPr>
          <a:xfrm>
            <a:off x="1522414" y="1754088"/>
            <a:ext cx="9900590" cy="4267200"/>
          </a:xfrm>
        </p:spPr>
        <p:txBody>
          <a:bodyPr>
            <a:normAutofit fontScale="92500" lnSpcReduction="10000"/>
          </a:bodyPr>
          <a:lstStyle/>
          <a:p>
            <a:pPr algn="just"/>
            <a:r>
              <a:rPr lang="en-IN" sz="2800" dirty="0"/>
              <a:t>In IPv4 addressing, there is not a specific relation between the </a:t>
            </a:r>
            <a:r>
              <a:rPr lang="en-IN" sz="2800" dirty="0" err="1"/>
              <a:t>hostid</a:t>
            </a:r>
            <a:r>
              <a:rPr lang="en-IN" sz="2800" dirty="0"/>
              <a:t> (at the IP level) and link-layer address (at the data-link layer) because the link-layer address is normally much longer than the </a:t>
            </a:r>
            <a:r>
              <a:rPr lang="en-IN" sz="2800" dirty="0" err="1"/>
              <a:t>hostid</a:t>
            </a:r>
            <a:r>
              <a:rPr lang="en-IN" sz="2800" dirty="0"/>
              <a:t>. The IPv6 addressing allows this relationship. </a:t>
            </a:r>
          </a:p>
          <a:p>
            <a:pPr algn="just"/>
            <a:r>
              <a:rPr lang="en-IN" sz="2800" dirty="0"/>
              <a:t>A link-layer address whose length is less than 64 bits can be embedded as the whole or part of the interface identifier, eliminating the mapping process. </a:t>
            </a:r>
          </a:p>
          <a:p>
            <a:pPr algn="just"/>
            <a:r>
              <a:rPr lang="en-IN" sz="2800" dirty="0"/>
              <a:t>Two common </a:t>
            </a:r>
            <a:r>
              <a:rPr lang="en-IN" sz="2800" dirty="0" err="1"/>
              <a:t>linklayer</a:t>
            </a:r>
            <a:r>
              <a:rPr lang="en-IN" sz="2800" dirty="0"/>
              <a:t> addressing schemes can be considered for this purpose: </a:t>
            </a:r>
          </a:p>
          <a:p>
            <a:pPr lvl="1" algn="just"/>
            <a:r>
              <a:rPr lang="en-IN" sz="2400" dirty="0"/>
              <a:t>The 64-bit extended unique identifier (EUI-64) defined by IEEE </a:t>
            </a:r>
          </a:p>
          <a:p>
            <a:pPr lvl="1" algn="just"/>
            <a:r>
              <a:rPr lang="en-IN" sz="2400" dirty="0"/>
              <a:t>The 48-bit link-layer address defined by Ethernet.</a:t>
            </a:r>
          </a:p>
          <a:p>
            <a:pPr algn="just"/>
            <a:endParaRPr lang="en-IN" sz="2800" dirty="0"/>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13</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dirty="0"/>
              <a:t>Prepared By: Mr. Chetan C. Kamani, Lecturer computer department, GP, Jamnagar</a:t>
            </a:r>
          </a:p>
        </p:txBody>
      </p:sp>
    </p:spTree>
    <p:extLst>
      <p:ext uri="{BB962C8B-B14F-4D97-AF65-F5344CB8AC3E}">
        <p14:creationId xmlns:p14="http://schemas.microsoft.com/office/powerpoint/2010/main" val="35352780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45141"/>
            <a:ext cx="9143998" cy="1020762"/>
          </a:xfrm>
        </p:spPr>
        <p:txBody>
          <a:bodyPr/>
          <a:lstStyle/>
          <a:p>
            <a:r>
              <a:rPr lang="en-US" dirty="0"/>
              <a:t>Global Unicast Address(EUI-64)</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14</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dirty="0"/>
              <a:t>Prepared By: Mr. Chetan C. Kamani, Lecturer computer department, GP, Jamnagar</a:t>
            </a:r>
          </a:p>
        </p:txBody>
      </p:sp>
      <p:pic>
        <p:nvPicPr>
          <p:cNvPr id="8" name="Content Placeholder 7">
            <a:extLst>
              <a:ext uri="{FF2B5EF4-FFF2-40B4-BE49-F238E27FC236}">
                <a16:creationId xmlns:a16="http://schemas.microsoft.com/office/drawing/2014/main" id="{BB79D7CA-547D-6C98-6212-C7B4BEC1363C}"/>
              </a:ext>
            </a:extLst>
          </p:cNvPr>
          <p:cNvPicPr>
            <a:picLocks noGrp="1" noChangeAspect="1"/>
          </p:cNvPicPr>
          <p:nvPr>
            <p:ph idx="1"/>
          </p:nvPr>
        </p:nvPicPr>
        <p:blipFill rotWithShape="1">
          <a:blip r:embed="rId2"/>
          <a:srcRect l="18457" t="47400" r="12705" b="26017"/>
          <a:stretch/>
        </p:blipFill>
        <p:spPr bwMode="auto">
          <a:xfrm>
            <a:off x="1522413" y="3100647"/>
            <a:ext cx="9144000" cy="187590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199388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45141"/>
            <a:ext cx="9143998" cy="1020762"/>
          </a:xfrm>
        </p:spPr>
        <p:txBody>
          <a:bodyPr/>
          <a:lstStyle/>
          <a:p>
            <a:r>
              <a:rPr lang="en-US" dirty="0"/>
              <a:t>Global Unicast Address(Ethernet MAC)</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15</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dirty="0"/>
              <a:t>Prepared By: Mr. Chetan C. Kamani, Lecturer computer department, GP, Jamnagar</a:t>
            </a:r>
          </a:p>
        </p:txBody>
      </p:sp>
      <p:pic>
        <p:nvPicPr>
          <p:cNvPr id="4" name="Content Placeholder 3">
            <a:extLst>
              <a:ext uri="{FF2B5EF4-FFF2-40B4-BE49-F238E27FC236}">
                <a16:creationId xmlns:a16="http://schemas.microsoft.com/office/drawing/2014/main" id="{0D914CEE-9E7D-5523-4642-7E27AE898991}"/>
              </a:ext>
            </a:extLst>
          </p:cNvPr>
          <p:cNvPicPr>
            <a:picLocks noGrp="1" noChangeAspect="1"/>
          </p:cNvPicPr>
          <p:nvPr>
            <p:ph idx="1"/>
          </p:nvPr>
        </p:nvPicPr>
        <p:blipFill rotWithShape="1">
          <a:blip r:embed="rId2"/>
          <a:srcRect l="14791" t="39416" r="14746" b="30866"/>
          <a:stretch/>
        </p:blipFill>
        <p:spPr bwMode="auto">
          <a:xfrm>
            <a:off x="1522413" y="2778570"/>
            <a:ext cx="9901237" cy="221843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0981003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45141"/>
            <a:ext cx="9143998" cy="1020762"/>
          </a:xfrm>
        </p:spPr>
        <p:txBody>
          <a:bodyPr/>
          <a:lstStyle/>
          <a:p>
            <a:r>
              <a:rPr lang="en-US" dirty="0"/>
              <a:t>Global Unicast Address</a:t>
            </a:r>
          </a:p>
        </p:txBody>
      </p:sp>
      <p:sp>
        <p:nvSpPr>
          <p:cNvPr id="14" name="Content Placeholder 13"/>
          <p:cNvSpPr>
            <a:spLocks noGrp="1"/>
          </p:cNvSpPr>
          <p:nvPr>
            <p:ph idx="1"/>
          </p:nvPr>
        </p:nvSpPr>
        <p:spPr>
          <a:xfrm>
            <a:off x="1522414" y="1754088"/>
            <a:ext cx="9900590" cy="4267200"/>
          </a:xfrm>
        </p:spPr>
        <p:txBody>
          <a:bodyPr>
            <a:normAutofit/>
          </a:bodyPr>
          <a:lstStyle/>
          <a:p>
            <a:pPr marL="182880" indent="0" algn="just">
              <a:lnSpc>
                <a:spcPct val="115000"/>
              </a:lnSpc>
              <a:spcAft>
                <a:spcPts val="800"/>
              </a:spcAft>
              <a:buNone/>
            </a:pPr>
            <a:r>
              <a:rPr lang="en-IN" sz="2800" b="1" kern="100" dirty="0">
                <a:effectLst/>
                <a:latin typeface="Calibri" panose="020F0502020204030204" pitchFamily="34" charset="0"/>
                <a:ea typeface="Calibri" panose="020F0502020204030204" pitchFamily="34" charset="0"/>
                <a:cs typeface="Shruti" panose="020B0502040204020203" pitchFamily="34" charset="0"/>
              </a:rPr>
              <a:t>Example</a:t>
            </a:r>
            <a:endParaRPr lang="en-IN" sz="2800" kern="100" dirty="0">
              <a:effectLst/>
              <a:latin typeface="Calibri" panose="020F0502020204030204" pitchFamily="34" charset="0"/>
              <a:ea typeface="Calibri" panose="020F0502020204030204" pitchFamily="34" charset="0"/>
              <a:cs typeface="Shruti" panose="020B0502040204020203" pitchFamily="34" charset="0"/>
            </a:endParaRPr>
          </a:p>
          <a:p>
            <a:pPr algn="just">
              <a:lnSpc>
                <a:spcPct val="115000"/>
              </a:lnSpc>
              <a:spcAft>
                <a:spcPts val="800"/>
              </a:spcAft>
            </a:pPr>
            <a:r>
              <a:rPr lang="en-IN" sz="2800" b="1" kern="100" dirty="0">
                <a:effectLst/>
                <a:latin typeface="Calibri" panose="020F0502020204030204" pitchFamily="34" charset="0"/>
                <a:ea typeface="Calibri" panose="020F0502020204030204" pitchFamily="34" charset="0"/>
                <a:cs typeface="Shruti" panose="020B0502040204020203" pitchFamily="34" charset="0"/>
              </a:rPr>
              <a:t>An organization is assigned the block 2000:1456:2474/48. What is the CIDR notation for the blocks in the first and second subnets in this organization?</a:t>
            </a:r>
            <a:endParaRPr lang="en-IN" sz="2800" kern="100" dirty="0">
              <a:effectLst/>
              <a:latin typeface="Calibri" panose="020F0502020204030204" pitchFamily="34" charset="0"/>
              <a:ea typeface="Calibri" panose="020F0502020204030204" pitchFamily="34" charset="0"/>
              <a:cs typeface="Shruti" panose="020B0502040204020203" pitchFamily="34" charset="0"/>
            </a:endParaRP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16</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dirty="0"/>
              <a:t>Prepared By: Mr. Chetan C. Kamani, Lecturer computer department, GP, Jamnagar</a:t>
            </a:r>
          </a:p>
        </p:txBody>
      </p:sp>
    </p:spTree>
    <p:extLst>
      <p:ext uri="{BB962C8B-B14F-4D97-AF65-F5344CB8AC3E}">
        <p14:creationId xmlns:p14="http://schemas.microsoft.com/office/powerpoint/2010/main" val="16679984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45141"/>
            <a:ext cx="9143998" cy="1020762"/>
          </a:xfrm>
        </p:spPr>
        <p:txBody>
          <a:bodyPr/>
          <a:lstStyle/>
          <a:p>
            <a:r>
              <a:rPr lang="en-US" dirty="0"/>
              <a:t>Global Unicast Address</a:t>
            </a:r>
          </a:p>
        </p:txBody>
      </p:sp>
      <p:sp>
        <p:nvSpPr>
          <p:cNvPr id="14" name="Content Placeholder 13"/>
          <p:cNvSpPr>
            <a:spLocks noGrp="1"/>
          </p:cNvSpPr>
          <p:nvPr>
            <p:ph idx="1"/>
          </p:nvPr>
        </p:nvSpPr>
        <p:spPr>
          <a:xfrm>
            <a:off x="1522414" y="1754088"/>
            <a:ext cx="9900590" cy="4267200"/>
          </a:xfrm>
        </p:spPr>
        <p:txBody>
          <a:bodyPr>
            <a:normAutofit/>
          </a:bodyPr>
          <a:lstStyle/>
          <a:p>
            <a:pPr marL="182880" indent="0" algn="just">
              <a:lnSpc>
                <a:spcPct val="115000"/>
              </a:lnSpc>
              <a:spcAft>
                <a:spcPts val="800"/>
              </a:spcAft>
              <a:buNone/>
            </a:pPr>
            <a:r>
              <a:rPr lang="en-IN" sz="2800" b="1" kern="100" dirty="0">
                <a:effectLst/>
                <a:latin typeface="Calibri" panose="020F0502020204030204" pitchFamily="34" charset="0"/>
                <a:ea typeface="Calibri" panose="020F0502020204030204" pitchFamily="34" charset="0"/>
                <a:cs typeface="Shruti" panose="020B0502040204020203" pitchFamily="34" charset="0"/>
              </a:rPr>
              <a:t>Example</a:t>
            </a:r>
            <a:endParaRPr lang="en-IN" sz="2800" kern="100" dirty="0">
              <a:effectLst/>
              <a:latin typeface="Calibri" panose="020F0502020204030204" pitchFamily="34" charset="0"/>
              <a:ea typeface="Calibri" panose="020F0502020204030204" pitchFamily="34" charset="0"/>
              <a:cs typeface="Shruti" panose="020B0502040204020203" pitchFamily="34" charset="0"/>
            </a:endParaRPr>
          </a:p>
          <a:p>
            <a:pPr algn="just">
              <a:lnSpc>
                <a:spcPct val="115000"/>
              </a:lnSpc>
              <a:spcAft>
                <a:spcPts val="800"/>
              </a:spcAft>
            </a:pPr>
            <a:r>
              <a:rPr lang="en-IN" sz="2800" b="1" kern="100" dirty="0">
                <a:effectLst/>
                <a:latin typeface="Calibri" panose="020F0502020204030204" pitchFamily="34" charset="0"/>
                <a:ea typeface="Calibri" panose="020F0502020204030204" pitchFamily="34" charset="0"/>
                <a:cs typeface="Shruti" panose="020B0502040204020203" pitchFamily="34" charset="0"/>
              </a:rPr>
              <a:t>Using the format we defined for Ethernet addresses, find the interface identifier if the physical address in the EUI is (F5-A9-23-EF-07-14-7A-D2)</a:t>
            </a:r>
            <a:r>
              <a:rPr lang="en-IN" sz="2800" b="1" kern="100" baseline="-25000" dirty="0">
                <a:effectLst/>
                <a:latin typeface="Calibri" panose="020F0502020204030204" pitchFamily="34" charset="0"/>
                <a:ea typeface="Calibri" panose="020F0502020204030204" pitchFamily="34" charset="0"/>
                <a:cs typeface="Shruti" panose="020B0502040204020203" pitchFamily="34" charset="0"/>
              </a:rPr>
              <a:t>16</a:t>
            </a:r>
            <a:r>
              <a:rPr lang="en-IN" sz="2800" b="1" kern="100" dirty="0">
                <a:effectLst/>
                <a:latin typeface="Calibri" panose="020F0502020204030204" pitchFamily="34" charset="0"/>
                <a:ea typeface="Calibri" panose="020F0502020204030204" pitchFamily="34" charset="0"/>
                <a:cs typeface="Shruti" panose="020B0502040204020203" pitchFamily="34" charset="0"/>
              </a:rPr>
              <a:t>.</a:t>
            </a:r>
            <a:endParaRPr lang="en-IN" sz="2800" kern="100" dirty="0">
              <a:effectLst/>
              <a:latin typeface="Calibri" panose="020F0502020204030204" pitchFamily="34" charset="0"/>
              <a:ea typeface="Calibri" panose="020F0502020204030204" pitchFamily="34" charset="0"/>
              <a:cs typeface="Shruti" panose="020B0502040204020203" pitchFamily="34" charset="0"/>
            </a:endParaRP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17</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dirty="0"/>
              <a:t>Prepared By: Mr. Chetan C. Kamani, Lecturer computer department, GP, Jamnagar</a:t>
            </a:r>
          </a:p>
        </p:txBody>
      </p:sp>
    </p:spTree>
    <p:extLst>
      <p:ext uri="{BB962C8B-B14F-4D97-AF65-F5344CB8AC3E}">
        <p14:creationId xmlns:p14="http://schemas.microsoft.com/office/powerpoint/2010/main" val="40944866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45141"/>
            <a:ext cx="9143998" cy="1020762"/>
          </a:xfrm>
        </p:spPr>
        <p:txBody>
          <a:bodyPr/>
          <a:lstStyle/>
          <a:p>
            <a:r>
              <a:rPr lang="en-US" dirty="0"/>
              <a:t>Global Unicast Address</a:t>
            </a:r>
          </a:p>
        </p:txBody>
      </p:sp>
      <p:sp>
        <p:nvSpPr>
          <p:cNvPr id="14" name="Content Placeholder 13"/>
          <p:cNvSpPr>
            <a:spLocks noGrp="1"/>
          </p:cNvSpPr>
          <p:nvPr>
            <p:ph idx="1"/>
          </p:nvPr>
        </p:nvSpPr>
        <p:spPr>
          <a:xfrm>
            <a:off x="1522414" y="1754088"/>
            <a:ext cx="9900590" cy="4267200"/>
          </a:xfrm>
        </p:spPr>
        <p:txBody>
          <a:bodyPr>
            <a:normAutofit/>
          </a:bodyPr>
          <a:lstStyle/>
          <a:p>
            <a:pPr marL="182880" indent="0" algn="just">
              <a:lnSpc>
                <a:spcPct val="115000"/>
              </a:lnSpc>
              <a:spcAft>
                <a:spcPts val="800"/>
              </a:spcAft>
              <a:buNone/>
            </a:pPr>
            <a:r>
              <a:rPr lang="en-IN" sz="2800" b="1" kern="100" dirty="0">
                <a:effectLst/>
                <a:latin typeface="Calibri" panose="020F0502020204030204" pitchFamily="34" charset="0"/>
                <a:ea typeface="Calibri" panose="020F0502020204030204" pitchFamily="34" charset="0"/>
                <a:cs typeface="Shruti" panose="020B0502040204020203" pitchFamily="34" charset="0"/>
              </a:rPr>
              <a:t>Example</a:t>
            </a:r>
            <a:endParaRPr lang="en-IN" sz="2800" kern="100" dirty="0">
              <a:effectLst/>
              <a:latin typeface="Calibri" panose="020F0502020204030204" pitchFamily="34" charset="0"/>
              <a:ea typeface="Calibri" panose="020F0502020204030204" pitchFamily="34" charset="0"/>
              <a:cs typeface="Shruti" panose="020B0502040204020203" pitchFamily="34" charset="0"/>
            </a:endParaRPr>
          </a:p>
          <a:p>
            <a:pPr algn="just">
              <a:lnSpc>
                <a:spcPct val="115000"/>
              </a:lnSpc>
              <a:spcAft>
                <a:spcPts val="800"/>
              </a:spcAft>
            </a:pPr>
            <a:r>
              <a:rPr lang="en-IN" sz="2800" b="1" kern="100" dirty="0">
                <a:effectLst/>
                <a:latin typeface="Calibri" panose="020F0502020204030204" pitchFamily="34" charset="0"/>
                <a:ea typeface="Calibri" panose="020F0502020204030204" pitchFamily="34" charset="0"/>
                <a:cs typeface="Shruti" panose="020B0502040204020203" pitchFamily="34" charset="0"/>
              </a:rPr>
              <a:t>Using the format we defined for Ethernet addresses, find the interface identifier if the Ethernet physical address is (F5-A9-23-14-7A-D2)</a:t>
            </a:r>
            <a:r>
              <a:rPr lang="en-IN" sz="2800" b="1" kern="100" baseline="-25000" dirty="0">
                <a:effectLst/>
                <a:latin typeface="Calibri" panose="020F0502020204030204" pitchFamily="34" charset="0"/>
                <a:ea typeface="Calibri" panose="020F0502020204030204" pitchFamily="34" charset="0"/>
                <a:cs typeface="Shruti" panose="020B0502040204020203" pitchFamily="34" charset="0"/>
              </a:rPr>
              <a:t>16</a:t>
            </a:r>
            <a:r>
              <a:rPr lang="en-IN" sz="2800" b="1" kern="100" dirty="0">
                <a:effectLst/>
                <a:latin typeface="Calibri" panose="020F0502020204030204" pitchFamily="34" charset="0"/>
                <a:ea typeface="Calibri" panose="020F0502020204030204" pitchFamily="34" charset="0"/>
                <a:cs typeface="Shruti" panose="020B0502040204020203" pitchFamily="34" charset="0"/>
              </a:rPr>
              <a:t>.</a:t>
            </a:r>
            <a:endParaRPr lang="en-IN" sz="2800" kern="100" dirty="0">
              <a:effectLst/>
              <a:latin typeface="Calibri" panose="020F0502020204030204" pitchFamily="34" charset="0"/>
              <a:ea typeface="Calibri" panose="020F0502020204030204" pitchFamily="34" charset="0"/>
              <a:cs typeface="Shruti" panose="020B0502040204020203" pitchFamily="34" charset="0"/>
            </a:endParaRP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18</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dirty="0"/>
              <a:t>Prepared By: Mr. Chetan C. Kamani, Lecturer computer department, GP, Jamnagar</a:t>
            </a:r>
          </a:p>
        </p:txBody>
      </p:sp>
    </p:spTree>
    <p:extLst>
      <p:ext uri="{BB962C8B-B14F-4D97-AF65-F5344CB8AC3E}">
        <p14:creationId xmlns:p14="http://schemas.microsoft.com/office/powerpoint/2010/main" val="9085403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45141"/>
            <a:ext cx="9143998" cy="1020762"/>
          </a:xfrm>
        </p:spPr>
        <p:txBody>
          <a:bodyPr/>
          <a:lstStyle/>
          <a:p>
            <a:r>
              <a:rPr lang="en-US" dirty="0"/>
              <a:t>Global Unicast Address</a:t>
            </a:r>
          </a:p>
        </p:txBody>
      </p:sp>
      <p:sp>
        <p:nvSpPr>
          <p:cNvPr id="14" name="Content Placeholder 13"/>
          <p:cNvSpPr>
            <a:spLocks noGrp="1"/>
          </p:cNvSpPr>
          <p:nvPr>
            <p:ph idx="1"/>
          </p:nvPr>
        </p:nvSpPr>
        <p:spPr>
          <a:xfrm>
            <a:off x="1522414" y="1754088"/>
            <a:ext cx="9900590" cy="4267200"/>
          </a:xfrm>
        </p:spPr>
        <p:txBody>
          <a:bodyPr>
            <a:normAutofit/>
          </a:bodyPr>
          <a:lstStyle/>
          <a:p>
            <a:pPr marL="182880" indent="0" algn="just">
              <a:lnSpc>
                <a:spcPct val="115000"/>
              </a:lnSpc>
              <a:spcAft>
                <a:spcPts val="800"/>
              </a:spcAft>
              <a:buNone/>
            </a:pPr>
            <a:r>
              <a:rPr lang="en-IN" sz="2800" b="1" kern="100" dirty="0">
                <a:effectLst/>
                <a:latin typeface="Calibri" panose="020F0502020204030204" pitchFamily="34" charset="0"/>
                <a:ea typeface="Calibri" panose="020F0502020204030204" pitchFamily="34" charset="0"/>
                <a:cs typeface="Shruti" panose="020B0502040204020203" pitchFamily="34" charset="0"/>
              </a:rPr>
              <a:t>Example</a:t>
            </a:r>
            <a:endParaRPr lang="en-IN" sz="2800" kern="100" dirty="0">
              <a:effectLst/>
              <a:latin typeface="Calibri" panose="020F0502020204030204" pitchFamily="34" charset="0"/>
              <a:ea typeface="Calibri" panose="020F0502020204030204" pitchFamily="34" charset="0"/>
              <a:cs typeface="Shruti" panose="020B0502040204020203" pitchFamily="34" charset="0"/>
            </a:endParaRPr>
          </a:p>
          <a:p>
            <a:pPr algn="just">
              <a:lnSpc>
                <a:spcPct val="115000"/>
              </a:lnSpc>
              <a:spcAft>
                <a:spcPts val="800"/>
              </a:spcAft>
            </a:pPr>
            <a:r>
              <a:rPr lang="en-IN" sz="2800" b="1" kern="100" dirty="0">
                <a:effectLst/>
                <a:latin typeface="Calibri" panose="020F0502020204030204" pitchFamily="34" charset="0"/>
                <a:ea typeface="Calibri" panose="020F0502020204030204" pitchFamily="34" charset="0"/>
                <a:cs typeface="Shruti" panose="020B0502040204020203" pitchFamily="34" charset="0"/>
              </a:rPr>
              <a:t>An organization is assigned the block 2000:1456:2474/48. What is the IPv6 address of an interface in the third subnet if the IEEE physical address of the computer is (F5-A9-23-14-7A-D2)</a:t>
            </a:r>
            <a:r>
              <a:rPr lang="en-IN" sz="2800" b="1" kern="100" baseline="-25000" dirty="0">
                <a:effectLst/>
                <a:latin typeface="Calibri" panose="020F0502020204030204" pitchFamily="34" charset="0"/>
                <a:ea typeface="Calibri" panose="020F0502020204030204" pitchFamily="34" charset="0"/>
                <a:cs typeface="Shruti" panose="020B0502040204020203" pitchFamily="34" charset="0"/>
              </a:rPr>
              <a:t>16</a:t>
            </a:r>
            <a:r>
              <a:rPr lang="en-IN" sz="2800" b="1" kern="100" dirty="0">
                <a:effectLst/>
                <a:latin typeface="Calibri" panose="020F0502020204030204" pitchFamily="34" charset="0"/>
                <a:ea typeface="Calibri" panose="020F0502020204030204" pitchFamily="34" charset="0"/>
                <a:cs typeface="Shruti" panose="020B0502040204020203" pitchFamily="34" charset="0"/>
              </a:rPr>
              <a:t>?</a:t>
            </a:r>
            <a:endParaRPr lang="en-IN" sz="2800" kern="100" dirty="0">
              <a:effectLst/>
              <a:latin typeface="Calibri" panose="020F0502020204030204" pitchFamily="34" charset="0"/>
              <a:ea typeface="Calibri" panose="020F0502020204030204" pitchFamily="34" charset="0"/>
              <a:cs typeface="Shruti" panose="020B0502040204020203" pitchFamily="34" charset="0"/>
            </a:endParaRP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19</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dirty="0"/>
              <a:t>Prepared By: Mr. Chetan C. Kamani, Lecturer computer department, GP, Jamnagar</a:t>
            </a:r>
          </a:p>
        </p:txBody>
      </p:sp>
    </p:spTree>
    <p:extLst>
      <p:ext uri="{BB962C8B-B14F-4D97-AF65-F5344CB8AC3E}">
        <p14:creationId xmlns:p14="http://schemas.microsoft.com/office/powerpoint/2010/main" val="31290147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45141"/>
            <a:ext cx="9143998" cy="1020762"/>
          </a:xfrm>
        </p:spPr>
        <p:txBody>
          <a:bodyPr/>
          <a:lstStyle/>
          <a:p>
            <a:r>
              <a:rPr lang="en-US" dirty="0"/>
              <a:t>Special Address</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20</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dirty="0"/>
              <a:t>Prepared By: Mr. Chetan C. Kamani, Lecturer computer department, GP, Jamnagar</a:t>
            </a:r>
          </a:p>
        </p:txBody>
      </p:sp>
      <p:pic>
        <p:nvPicPr>
          <p:cNvPr id="4" name="Content Placeholder 3">
            <a:extLst>
              <a:ext uri="{FF2B5EF4-FFF2-40B4-BE49-F238E27FC236}">
                <a16:creationId xmlns:a16="http://schemas.microsoft.com/office/drawing/2014/main" id="{CCC895F4-7323-DD6D-1491-7B91C51C1B36}"/>
              </a:ext>
            </a:extLst>
          </p:cNvPr>
          <p:cNvPicPr>
            <a:picLocks noGrp="1" noChangeAspect="1"/>
          </p:cNvPicPr>
          <p:nvPr>
            <p:ph idx="1"/>
          </p:nvPr>
        </p:nvPicPr>
        <p:blipFill rotWithShape="1">
          <a:blip r:embed="rId2"/>
          <a:srcRect l="17791" t="21275" r="11238" b="26330"/>
          <a:stretch/>
        </p:blipFill>
        <p:spPr bwMode="auto">
          <a:xfrm>
            <a:off x="1522413" y="1946154"/>
            <a:ext cx="9901237" cy="388326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7197393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45141"/>
            <a:ext cx="9143998" cy="1020762"/>
          </a:xfrm>
        </p:spPr>
        <p:txBody>
          <a:bodyPr/>
          <a:lstStyle/>
          <a:p>
            <a:r>
              <a:rPr lang="en-US" dirty="0"/>
              <a:t>Other Assigned Blocks</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21</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dirty="0"/>
              <a:t>Prepared By: Mr. Chetan C. Kamani, Lecturer computer department, GP, Jamnagar</a:t>
            </a:r>
          </a:p>
        </p:txBody>
      </p:sp>
      <p:pic>
        <p:nvPicPr>
          <p:cNvPr id="8" name="Content Placeholder 7">
            <a:extLst>
              <a:ext uri="{FF2B5EF4-FFF2-40B4-BE49-F238E27FC236}">
                <a16:creationId xmlns:a16="http://schemas.microsoft.com/office/drawing/2014/main" id="{717C81F2-3E40-6F52-51ED-992C8BA6C615}"/>
              </a:ext>
            </a:extLst>
          </p:cNvPr>
          <p:cNvPicPr>
            <a:picLocks noGrp="1" noChangeAspect="1"/>
          </p:cNvPicPr>
          <p:nvPr>
            <p:ph idx="1"/>
          </p:nvPr>
        </p:nvPicPr>
        <p:blipFill rotWithShape="1">
          <a:blip r:embed="rId2"/>
          <a:srcRect l="14548" t="22839" r="14229" b="17883"/>
          <a:stretch/>
        </p:blipFill>
        <p:spPr bwMode="auto">
          <a:xfrm>
            <a:off x="1522413" y="2017078"/>
            <a:ext cx="9144000" cy="404304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5238219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45141"/>
            <a:ext cx="9143998" cy="1020762"/>
          </a:xfrm>
        </p:spPr>
        <p:txBody>
          <a:bodyPr/>
          <a:lstStyle/>
          <a:p>
            <a:r>
              <a:rPr lang="en-US" dirty="0"/>
              <a:t>Autoconfiguration</a:t>
            </a:r>
          </a:p>
        </p:txBody>
      </p:sp>
      <p:sp>
        <p:nvSpPr>
          <p:cNvPr id="14" name="Content Placeholder 13"/>
          <p:cNvSpPr>
            <a:spLocks noGrp="1"/>
          </p:cNvSpPr>
          <p:nvPr>
            <p:ph idx="1"/>
          </p:nvPr>
        </p:nvSpPr>
        <p:spPr>
          <a:xfrm>
            <a:off x="1522414" y="1754088"/>
            <a:ext cx="9900590" cy="4267200"/>
          </a:xfrm>
        </p:spPr>
        <p:txBody>
          <a:bodyPr>
            <a:normAutofit fontScale="92500" lnSpcReduction="20000"/>
          </a:bodyPr>
          <a:lstStyle/>
          <a:p>
            <a:pPr marL="640080" indent="-457200" algn="just">
              <a:lnSpc>
                <a:spcPct val="115000"/>
              </a:lnSpc>
              <a:spcAft>
                <a:spcPts val="800"/>
              </a:spcAft>
            </a:pPr>
            <a:r>
              <a:rPr lang="en-IN" sz="2800" kern="100" dirty="0">
                <a:effectLst/>
                <a:latin typeface="Calibri" panose="020F0502020204030204" pitchFamily="34" charset="0"/>
                <a:ea typeface="Calibri" panose="020F0502020204030204" pitchFamily="34" charset="0"/>
                <a:cs typeface="Shruti" panose="020B0502040204020203" pitchFamily="34" charset="0"/>
              </a:rPr>
              <a:t>One of the interesting features of IPv6 addressing is the autoconfiguration of hosts.</a:t>
            </a:r>
          </a:p>
          <a:p>
            <a:pPr marL="640080" indent="-457200" algn="just">
              <a:lnSpc>
                <a:spcPct val="115000"/>
              </a:lnSpc>
              <a:spcAft>
                <a:spcPts val="800"/>
              </a:spcAft>
            </a:pPr>
            <a:r>
              <a:rPr lang="en-IN" sz="2800" kern="100" dirty="0">
                <a:effectLst/>
                <a:latin typeface="Calibri" panose="020F0502020204030204" pitchFamily="34" charset="0"/>
                <a:ea typeface="Calibri" panose="020F0502020204030204" pitchFamily="34" charset="0"/>
                <a:cs typeface="Shruti" panose="020B0502040204020203" pitchFamily="34" charset="0"/>
              </a:rPr>
              <a:t>As we discussed in IPv4, the host and routers are originally configured manually by the network manager. </a:t>
            </a:r>
          </a:p>
          <a:p>
            <a:pPr marL="640080" indent="-457200" algn="just">
              <a:lnSpc>
                <a:spcPct val="115000"/>
              </a:lnSpc>
              <a:spcAft>
                <a:spcPts val="800"/>
              </a:spcAft>
            </a:pPr>
            <a:r>
              <a:rPr lang="en-IN" sz="2800" kern="100" dirty="0">
                <a:effectLst/>
                <a:latin typeface="Calibri" panose="020F0502020204030204" pitchFamily="34" charset="0"/>
                <a:ea typeface="Calibri" panose="020F0502020204030204" pitchFamily="34" charset="0"/>
                <a:cs typeface="Shruti" panose="020B0502040204020203" pitchFamily="34" charset="0"/>
              </a:rPr>
              <a:t>However, the Dynamic Host Configuration Protocol, DHCP, can be used to allocate an IPv4 address to a host that joins the network. </a:t>
            </a:r>
          </a:p>
          <a:p>
            <a:pPr marL="640080" indent="-457200" algn="just">
              <a:lnSpc>
                <a:spcPct val="115000"/>
              </a:lnSpc>
              <a:spcAft>
                <a:spcPts val="800"/>
              </a:spcAft>
            </a:pPr>
            <a:r>
              <a:rPr lang="en-IN" sz="2800" kern="100" dirty="0">
                <a:effectLst/>
                <a:latin typeface="Calibri" panose="020F0502020204030204" pitchFamily="34" charset="0"/>
                <a:ea typeface="Calibri" panose="020F0502020204030204" pitchFamily="34" charset="0"/>
                <a:cs typeface="Shruti" panose="020B0502040204020203" pitchFamily="34" charset="0"/>
              </a:rPr>
              <a:t>In IPv6, DHCP protocol can still be used to allocate an IPv6 address to a host, but a host can also configure itself.</a:t>
            </a:r>
          </a:p>
          <a:p>
            <a:pPr marL="182880" indent="0" algn="just">
              <a:lnSpc>
                <a:spcPct val="115000"/>
              </a:lnSpc>
              <a:spcAft>
                <a:spcPts val="800"/>
              </a:spcAft>
              <a:buNone/>
            </a:pPr>
            <a:endParaRPr lang="en-IN" sz="2800" kern="100" dirty="0">
              <a:effectLst/>
              <a:latin typeface="Calibri" panose="020F0502020204030204" pitchFamily="34" charset="0"/>
              <a:ea typeface="Calibri" panose="020F0502020204030204" pitchFamily="34" charset="0"/>
              <a:cs typeface="Shruti" panose="020B0502040204020203" pitchFamily="34" charset="0"/>
            </a:endParaRP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22</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dirty="0"/>
              <a:t>Prepared By: Mr. Chetan C. Kamani, Lecturer computer department, GP, Jamnagar</a:t>
            </a:r>
          </a:p>
        </p:txBody>
      </p:sp>
    </p:spTree>
    <p:extLst>
      <p:ext uri="{BB962C8B-B14F-4D97-AF65-F5344CB8AC3E}">
        <p14:creationId xmlns:p14="http://schemas.microsoft.com/office/powerpoint/2010/main" val="24794721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45141"/>
            <a:ext cx="9143998" cy="1020762"/>
          </a:xfrm>
        </p:spPr>
        <p:txBody>
          <a:bodyPr/>
          <a:lstStyle/>
          <a:p>
            <a:r>
              <a:rPr lang="en-US" dirty="0"/>
              <a:t>Autoconfiguration</a:t>
            </a:r>
          </a:p>
        </p:txBody>
      </p:sp>
      <p:sp>
        <p:nvSpPr>
          <p:cNvPr id="14" name="Content Placeholder 13"/>
          <p:cNvSpPr>
            <a:spLocks noGrp="1"/>
          </p:cNvSpPr>
          <p:nvPr>
            <p:ph idx="1"/>
          </p:nvPr>
        </p:nvSpPr>
        <p:spPr>
          <a:xfrm>
            <a:off x="1522414" y="1754088"/>
            <a:ext cx="9900590" cy="4267200"/>
          </a:xfrm>
        </p:spPr>
        <p:txBody>
          <a:bodyPr>
            <a:normAutofit fontScale="92500" lnSpcReduction="20000"/>
          </a:bodyPr>
          <a:lstStyle/>
          <a:p>
            <a:pPr marL="640080" indent="-457200" algn="just">
              <a:lnSpc>
                <a:spcPct val="115000"/>
              </a:lnSpc>
              <a:spcAft>
                <a:spcPts val="800"/>
              </a:spcAft>
            </a:pPr>
            <a:r>
              <a:rPr lang="en-IN" sz="2800" kern="100" dirty="0">
                <a:effectLst/>
                <a:latin typeface="Calibri" panose="020F0502020204030204" pitchFamily="34" charset="0"/>
                <a:ea typeface="Calibri" panose="020F0502020204030204" pitchFamily="34" charset="0"/>
                <a:cs typeface="Shruti" panose="020B0502040204020203" pitchFamily="34" charset="0"/>
              </a:rPr>
              <a:t>One of the interesting features of IPv6 addressing is the autoconfiguration of hosts.</a:t>
            </a:r>
          </a:p>
          <a:p>
            <a:pPr marL="640080" indent="-457200" algn="just">
              <a:lnSpc>
                <a:spcPct val="115000"/>
              </a:lnSpc>
              <a:spcAft>
                <a:spcPts val="800"/>
              </a:spcAft>
            </a:pPr>
            <a:r>
              <a:rPr lang="en-IN" sz="2800" kern="100" dirty="0">
                <a:effectLst/>
                <a:latin typeface="Calibri" panose="020F0502020204030204" pitchFamily="34" charset="0"/>
                <a:ea typeface="Calibri" panose="020F0502020204030204" pitchFamily="34" charset="0"/>
                <a:cs typeface="Shruti" panose="020B0502040204020203" pitchFamily="34" charset="0"/>
              </a:rPr>
              <a:t>As we discussed in IPv4, the host and routers are originally configured manually by the network manager. </a:t>
            </a:r>
          </a:p>
          <a:p>
            <a:pPr marL="640080" indent="-457200" algn="just">
              <a:lnSpc>
                <a:spcPct val="115000"/>
              </a:lnSpc>
              <a:spcAft>
                <a:spcPts val="800"/>
              </a:spcAft>
            </a:pPr>
            <a:r>
              <a:rPr lang="en-IN" sz="2800" kern="100" dirty="0">
                <a:effectLst/>
                <a:latin typeface="Calibri" panose="020F0502020204030204" pitchFamily="34" charset="0"/>
                <a:ea typeface="Calibri" panose="020F0502020204030204" pitchFamily="34" charset="0"/>
                <a:cs typeface="Shruti" panose="020B0502040204020203" pitchFamily="34" charset="0"/>
              </a:rPr>
              <a:t>However, the Dynamic Host Configuration Protocol, DHCP, can be used to allocate an IPv4 address to a host that joins the network. </a:t>
            </a:r>
          </a:p>
          <a:p>
            <a:pPr marL="640080" indent="-457200" algn="just">
              <a:lnSpc>
                <a:spcPct val="115000"/>
              </a:lnSpc>
              <a:spcAft>
                <a:spcPts val="800"/>
              </a:spcAft>
            </a:pPr>
            <a:r>
              <a:rPr lang="en-IN" sz="2800" kern="100" dirty="0">
                <a:effectLst/>
                <a:latin typeface="Calibri" panose="020F0502020204030204" pitchFamily="34" charset="0"/>
                <a:ea typeface="Calibri" panose="020F0502020204030204" pitchFamily="34" charset="0"/>
                <a:cs typeface="Shruti" panose="020B0502040204020203" pitchFamily="34" charset="0"/>
              </a:rPr>
              <a:t>In IPv6, DHCP protocol can still be used to allocate an IPv6 address to a host, but a host can also configure itself.</a:t>
            </a:r>
          </a:p>
          <a:p>
            <a:pPr marL="182880" indent="0" algn="just">
              <a:lnSpc>
                <a:spcPct val="115000"/>
              </a:lnSpc>
              <a:spcAft>
                <a:spcPts val="800"/>
              </a:spcAft>
              <a:buNone/>
            </a:pPr>
            <a:endParaRPr lang="en-IN" sz="2800" kern="100" dirty="0">
              <a:effectLst/>
              <a:latin typeface="Calibri" panose="020F0502020204030204" pitchFamily="34" charset="0"/>
              <a:ea typeface="Calibri" panose="020F0502020204030204" pitchFamily="34" charset="0"/>
              <a:cs typeface="Shruti" panose="020B0502040204020203" pitchFamily="34" charset="0"/>
            </a:endParaRP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23</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dirty="0"/>
              <a:t>Prepared By: Mr. Chetan C. Kamani, Lecturer computer department, GP, Jamnagar</a:t>
            </a:r>
          </a:p>
        </p:txBody>
      </p:sp>
    </p:spTree>
    <p:extLst>
      <p:ext uri="{BB962C8B-B14F-4D97-AF65-F5344CB8AC3E}">
        <p14:creationId xmlns:p14="http://schemas.microsoft.com/office/powerpoint/2010/main" val="13845422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3" y="180973"/>
            <a:ext cx="9143998" cy="1020762"/>
          </a:xfrm>
        </p:spPr>
        <p:txBody>
          <a:bodyPr/>
          <a:lstStyle/>
          <a:p>
            <a:r>
              <a:rPr lang="en-US" dirty="0"/>
              <a:t>Autoconfiguration(Process)</a:t>
            </a:r>
          </a:p>
        </p:txBody>
      </p:sp>
      <p:sp>
        <p:nvSpPr>
          <p:cNvPr id="14" name="Content Placeholder 13"/>
          <p:cNvSpPr>
            <a:spLocks noGrp="1"/>
          </p:cNvSpPr>
          <p:nvPr>
            <p:ph idx="1"/>
          </p:nvPr>
        </p:nvSpPr>
        <p:spPr>
          <a:xfrm>
            <a:off x="1522414" y="1754088"/>
            <a:ext cx="9900590" cy="4267200"/>
          </a:xfrm>
        </p:spPr>
        <p:txBody>
          <a:bodyPr>
            <a:normAutofit/>
          </a:bodyPr>
          <a:lstStyle/>
          <a:p>
            <a:pPr marL="697230" indent="-514350" algn="just">
              <a:lnSpc>
                <a:spcPct val="115000"/>
              </a:lnSpc>
              <a:spcAft>
                <a:spcPts val="800"/>
              </a:spcAft>
              <a:buAutoNum type="arabicPeriod"/>
            </a:pPr>
            <a:r>
              <a:rPr lang="en-IN" sz="2800" kern="100" dirty="0">
                <a:latin typeface="Calibri" panose="020F0502020204030204" pitchFamily="34" charset="0"/>
                <a:ea typeface="Calibri" panose="020F0502020204030204" pitchFamily="34" charset="0"/>
                <a:cs typeface="Shruti" panose="020B0502040204020203" pitchFamily="34" charset="0"/>
              </a:rPr>
              <a:t>Link-Local address generation</a:t>
            </a:r>
          </a:p>
          <a:p>
            <a:pPr marL="697230" indent="-514350" algn="just">
              <a:lnSpc>
                <a:spcPct val="115000"/>
              </a:lnSpc>
              <a:spcAft>
                <a:spcPts val="800"/>
              </a:spcAft>
              <a:buAutoNum type="arabicPeriod"/>
            </a:pPr>
            <a:r>
              <a:rPr lang="en-IN" sz="2800" kern="100" dirty="0">
                <a:effectLst/>
                <a:latin typeface="Calibri" panose="020F0502020204030204" pitchFamily="34" charset="0"/>
                <a:ea typeface="Calibri" panose="020F0502020204030204" pitchFamily="34" charset="0"/>
                <a:cs typeface="Shruti" panose="020B0502040204020203" pitchFamily="34" charset="0"/>
              </a:rPr>
              <a:t>Check the validity</a:t>
            </a:r>
            <a:r>
              <a:rPr lang="en-IN" sz="2800" kern="100" dirty="0">
                <a:latin typeface="Calibri" panose="020F0502020204030204" pitchFamily="34" charset="0"/>
                <a:ea typeface="Calibri" panose="020F0502020204030204" pitchFamily="34" charset="0"/>
                <a:cs typeface="Shruti" panose="020B0502040204020203" pitchFamily="34" charset="0"/>
              </a:rPr>
              <a:t> of the generated-link local address</a:t>
            </a:r>
          </a:p>
          <a:p>
            <a:pPr marL="697230" indent="-514350" algn="just">
              <a:lnSpc>
                <a:spcPct val="115000"/>
              </a:lnSpc>
              <a:spcAft>
                <a:spcPts val="800"/>
              </a:spcAft>
              <a:buAutoNum type="arabicPeriod"/>
            </a:pPr>
            <a:r>
              <a:rPr lang="en-IN" sz="2800" kern="100" dirty="0">
                <a:effectLst/>
                <a:latin typeface="Calibri" panose="020F0502020204030204" pitchFamily="34" charset="0"/>
                <a:ea typeface="Calibri" panose="020F0502020204030204" pitchFamily="34" charset="0"/>
                <a:cs typeface="Shruti" panose="020B0502040204020203" pitchFamily="34" charset="0"/>
              </a:rPr>
              <a:t>Find the global </a:t>
            </a:r>
            <a:r>
              <a:rPr lang="en-IN" sz="2800" kern="100" dirty="0">
                <a:latin typeface="Calibri" panose="020F0502020204030204" pitchFamily="34" charset="0"/>
                <a:ea typeface="Calibri" panose="020F0502020204030204" pitchFamily="34" charset="0"/>
                <a:cs typeface="Shruti" panose="020B0502040204020203" pitchFamily="34" charset="0"/>
              </a:rPr>
              <a:t>unicast address</a:t>
            </a:r>
            <a:endParaRPr lang="en-IN" sz="2800" kern="100" dirty="0">
              <a:effectLst/>
              <a:latin typeface="Calibri" panose="020F0502020204030204" pitchFamily="34" charset="0"/>
              <a:ea typeface="Calibri" panose="020F0502020204030204" pitchFamily="34" charset="0"/>
              <a:cs typeface="Shruti" panose="020B0502040204020203" pitchFamily="34" charset="0"/>
            </a:endParaRP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24</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dirty="0"/>
              <a:t>Prepared By: Mr. Chetan C. Kamani, Lecturer computer department, GP, Jamnagar</a:t>
            </a:r>
          </a:p>
        </p:txBody>
      </p:sp>
    </p:spTree>
    <p:extLst>
      <p:ext uri="{BB962C8B-B14F-4D97-AF65-F5344CB8AC3E}">
        <p14:creationId xmlns:p14="http://schemas.microsoft.com/office/powerpoint/2010/main" val="17985531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45141"/>
            <a:ext cx="9143998" cy="1020762"/>
          </a:xfrm>
        </p:spPr>
        <p:txBody>
          <a:bodyPr/>
          <a:lstStyle/>
          <a:p>
            <a:endParaRPr lang="en-US" dirty="0"/>
          </a:p>
        </p:txBody>
      </p:sp>
      <p:sp>
        <p:nvSpPr>
          <p:cNvPr id="14" name="Content Placeholder 13"/>
          <p:cNvSpPr>
            <a:spLocks noGrp="1"/>
          </p:cNvSpPr>
          <p:nvPr>
            <p:ph idx="1"/>
          </p:nvPr>
        </p:nvSpPr>
        <p:spPr>
          <a:xfrm>
            <a:off x="1522414" y="1754088"/>
            <a:ext cx="9900590" cy="4267200"/>
          </a:xfrm>
        </p:spPr>
        <p:txBody>
          <a:bodyPr>
            <a:normAutofit/>
          </a:bodyPr>
          <a:lstStyle/>
          <a:p>
            <a:pPr marL="182880" indent="0" algn="just">
              <a:lnSpc>
                <a:spcPct val="115000"/>
              </a:lnSpc>
              <a:spcAft>
                <a:spcPts val="800"/>
              </a:spcAft>
              <a:buNone/>
            </a:pPr>
            <a:r>
              <a:rPr lang="en-IN" sz="2800" b="1" kern="100" dirty="0">
                <a:effectLst/>
                <a:latin typeface="Calibri" panose="020F0502020204030204" pitchFamily="34" charset="0"/>
                <a:ea typeface="Calibri" panose="020F0502020204030204" pitchFamily="34" charset="0"/>
                <a:cs typeface="Shruti" panose="020B0502040204020203" pitchFamily="34" charset="0"/>
              </a:rPr>
              <a:t>Example</a:t>
            </a:r>
            <a:endParaRPr lang="en-IN" sz="2800" kern="100" dirty="0">
              <a:effectLst/>
              <a:latin typeface="Calibri" panose="020F0502020204030204" pitchFamily="34" charset="0"/>
              <a:ea typeface="Calibri" panose="020F0502020204030204" pitchFamily="34" charset="0"/>
              <a:cs typeface="Shruti" panose="020B0502040204020203" pitchFamily="34" charset="0"/>
            </a:endParaRPr>
          </a:p>
          <a:p>
            <a:pPr algn="just">
              <a:lnSpc>
                <a:spcPct val="115000"/>
              </a:lnSpc>
              <a:spcAft>
                <a:spcPts val="800"/>
              </a:spcAft>
            </a:pPr>
            <a:r>
              <a:rPr lang="en-IN" sz="2800" b="1" kern="100" dirty="0">
                <a:effectLst/>
                <a:latin typeface="Calibri" panose="020F0502020204030204" pitchFamily="34" charset="0"/>
                <a:ea typeface="Calibri" panose="020F0502020204030204" pitchFamily="34" charset="0"/>
                <a:cs typeface="Shruti" panose="020B0502040204020203" pitchFamily="34" charset="0"/>
              </a:rPr>
              <a:t>Assume a host with Ethernet address (F5-A9-23-11-9B-E2)</a:t>
            </a:r>
            <a:r>
              <a:rPr lang="en-IN" sz="2800" b="1" kern="100" baseline="-25000" dirty="0">
                <a:effectLst/>
                <a:latin typeface="Calibri" panose="020F0502020204030204" pitchFamily="34" charset="0"/>
                <a:ea typeface="Calibri" panose="020F0502020204030204" pitchFamily="34" charset="0"/>
                <a:cs typeface="Shruti" panose="020B0502040204020203" pitchFamily="34" charset="0"/>
              </a:rPr>
              <a:t>16</a:t>
            </a:r>
            <a:r>
              <a:rPr lang="en-IN" sz="2800" b="1" kern="100" dirty="0">
                <a:effectLst/>
                <a:latin typeface="Calibri" panose="020F0502020204030204" pitchFamily="34" charset="0"/>
                <a:ea typeface="Calibri" panose="020F0502020204030204" pitchFamily="34" charset="0"/>
                <a:cs typeface="Shruti" panose="020B0502040204020203" pitchFamily="34" charset="0"/>
              </a:rPr>
              <a:t> has joined the network. What would be its global unicast address if the global unicast prefix of the organization is 3A21:1216:2165 and the subnet identifier is A245:1232?</a:t>
            </a:r>
            <a:endParaRPr lang="en-IN" sz="2800" kern="100" dirty="0">
              <a:effectLst/>
              <a:latin typeface="Calibri" panose="020F0502020204030204" pitchFamily="34" charset="0"/>
              <a:ea typeface="Calibri" panose="020F0502020204030204" pitchFamily="34" charset="0"/>
              <a:cs typeface="Shruti" panose="020B0502040204020203" pitchFamily="34" charset="0"/>
            </a:endParaRP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25</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dirty="0"/>
              <a:t>Prepared By: Mr. Chetan C. Kamani, Lecturer computer department, GP, Jamnagar</a:t>
            </a:r>
          </a:p>
        </p:txBody>
      </p:sp>
    </p:spTree>
    <p:extLst>
      <p:ext uri="{BB962C8B-B14F-4D97-AF65-F5344CB8AC3E}">
        <p14:creationId xmlns:p14="http://schemas.microsoft.com/office/powerpoint/2010/main" val="26467701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45141"/>
            <a:ext cx="9143998" cy="1020762"/>
          </a:xfrm>
        </p:spPr>
        <p:txBody>
          <a:bodyPr/>
          <a:lstStyle/>
          <a:p>
            <a:r>
              <a:rPr lang="en-US" dirty="0"/>
              <a:t>Renumbering</a:t>
            </a:r>
          </a:p>
        </p:txBody>
      </p:sp>
      <p:sp>
        <p:nvSpPr>
          <p:cNvPr id="14" name="Content Placeholder 13"/>
          <p:cNvSpPr>
            <a:spLocks noGrp="1"/>
          </p:cNvSpPr>
          <p:nvPr>
            <p:ph idx="1"/>
          </p:nvPr>
        </p:nvSpPr>
        <p:spPr>
          <a:xfrm>
            <a:off x="1522414" y="1754088"/>
            <a:ext cx="9900590" cy="4267200"/>
          </a:xfrm>
        </p:spPr>
        <p:txBody>
          <a:bodyPr>
            <a:normAutofit/>
          </a:bodyPr>
          <a:lstStyle/>
          <a:p>
            <a:pPr algn="just"/>
            <a:r>
              <a:rPr lang="en-IN" sz="2800" dirty="0"/>
              <a:t>It is the process of changing the IP addresses of devices on a network. This can be done for variety of reasons.</a:t>
            </a:r>
          </a:p>
          <a:p>
            <a:pPr lvl="1" algn="just"/>
            <a:r>
              <a:rPr lang="en-IN" sz="2400" dirty="0"/>
              <a:t>Changing of ISPs</a:t>
            </a:r>
          </a:p>
          <a:p>
            <a:pPr lvl="1" algn="just"/>
            <a:r>
              <a:rPr lang="en-IN" sz="2400" dirty="0"/>
              <a:t>Expanding the network</a:t>
            </a:r>
          </a:p>
          <a:p>
            <a:pPr lvl="1" algn="just"/>
            <a:r>
              <a:rPr lang="en-IN" sz="2400" dirty="0"/>
              <a:t>Merging network</a:t>
            </a:r>
          </a:p>
          <a:p>
            <a:pPr lvl="1" algn="just"/>
            <a:r>
              <a:rPr lang="en-IN" sz="2400" dirty="0"/>
              <a:t>Improving Security</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26</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dirty="0"/>
              <a:t>Prepared By: Mr. Chetan C. Kamani, Lecturer computer department, GP, Jamnagar</a:t>
            </a:r>
          </a:p>
        </p:txBody>
      </p:sp>
    </p:spTree>
    <p:extLst>
      <p:ext uri="{BB962C8B-B14F-4D97-AF65-F5344CB8AC3E}">
        <p14:creationId xmlns:p14="http://schemas.microsoft.com/office/powerpoint/2010/main" val="17843751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74638"/>
            <a:ext cx="9143998" cy="1020762"/>
          </a:xfrm>
        </p:spPr>
        <p:txBody>
          <a:bodyPr anchor="b">
            <a:normAutofit/>
          </a:bodyPr>
          <a:lstStyle/>
          <a:p>
            <a:r>
              <a:rPr lang="en-US" dirty="0"/>
              <a:t>Questions</a:t>
            </a:r>
          </a:p>
        </p:txBody>
      </p:sp>
      <p:sp>
        <p:nvSpPr>
          <p:cNvPr id="5" name="Content Placeholder 4">
            <a:extLst>
              <a:ext uri="{FF2B5EF4-FFF2-40B4-BE49-F238E27FC236}">
                <a16:creationId xmlns:a16="http://schemas.microsoft.com/office/drawing/2014/main" id="{863A3775-B893-A4D3-E887-87224DE4F88F}"/>
              </a:ext>
            </a:extLst>
          </p:cNvPr>
          <p:cNvSpPr>
            <a:spLocks noGrp="1"/>
          </p:cNvSpPr>
          <p:nvPr>
            <p:ph sz="half" idx="2"/>
          </p:nvPr>
        </p:nvSpPr>
        <p:spPr>
          <a:xfrm>
            <a:off x="1522413" y="1700808"/>
            <a:ext cx="9828582" cy="4548336"/>
          </a:xfrm>
        </p:spPr>
        <p:txBody>
          <a:bodyPr>
            <a:normAutofit/>
          </a:bodyPr>
          <a:lstStyle/>
          <a:p>
            <a:pPr algn="just"/>
            <a:endParaRPr lang="en-IN" dirty="0"/>
          </a:p>
        </p:txBody>
      </p:sp>
      <p:sp>
        <p:nvSpPr>
          <p:cNvPr id="4" name="Slide Number Placeholder 3">
            <a:extLst>
              <a:ext uri="{FF2B5EF4-FFF2-40B4-BE49-F238E27FC236}">
                <a16:creationId xmlns:a16="http://schemas.microsoft.com/office/drawing/2014/main" id="{7166B7F0-FAD0-1A34-FDC1-5E3F881A8218}"/>
              </a:ext>
            </a:extLst>
          </p:cNvPr>
          <p:cNvSpPr>
            <a:spLocks noGrp="1"/>
          </p:cNvSpPr>
          <p:nvPr>
            <p:ph type="sldNum" sz="quarter" idx="12"/>
          </p:nvPr>
        </p:nvSpPr>
        <p:spPr/>
        <p:txBody>
          <a:bodyPr/>
          <a:lstStyle/>
          <a:p>
            <a:fld id="{25BA54BD-C84D-46CE-8B72-31BFB26ABA43}" type="slidenum">
              <a:rPr lang="en-IN" smtClean="0"/>
              <a:t>27</a:t>
            </a:fld>
            <a:endParaRPr lang="en-IN"/>
          </a:p>
        </p:txBody>
      </p:sp>
      <p:sp>
        <p:nvSpPr>
          <p:cNvPr id="6" name="Footer Placeholder 5">
            <a:extLst>
              <a:ext uri="{FF2B5EF4-FFF2-40B4-BE49-F238E27FC236}">
                <a16:creationId xmlns:a16="http://schemas.microsoft.com/office/drawing/2014/main" id="{DD6ED850-8E54-66EB-261F-98C6024F0E14}"/>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3296368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CEA67-3E49-4E7D-7A98-16AF0A7AE2D0}"/>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628D34CA-3057-3B29-235C-391804E572D6}"/>
              </a:ext>
            </a:extLst>
          </p:cNvPr>
          <p:cNvSpPr>
            <a:spLocks noGrp="1"/>
          </p:cNvSpPr>
          <p:nvPr>
            <p:ph idx="1"/>
          </p:nvPr>
        </p:nvSpPr>
        <p:spPr>
          <a:xfrm>
            <a:off x="1522414" y="1905000"/>
            <a:ext cx="9972598" cy="4267200"/>
          </a:xfrm>
        </p:spPr>
        <p:txBody>
          <a:bodyPr/>
          <a:lstStyle/>
          <a:p>
            <a:r>
              <a:rPr lang="en-IN" dirty="0"/>
              <a:t>Data Communication and Networking, Fifth Edition, BEHROUZ A. FOROUZAN</a:t>
            </a:r>
          </a:p>
          <a:p>
            <a:r>
              <a:rPr lang="en-IN" dirty="0"/>
              <a:t>Data Communication and Networking, Fourth Edition, BEHROUZAN A. FOROUZA</a:t>
            </a:r>
          </a:p>
          <a:p>
            <a:r>
              <a:rPr lang="en-IN" dirty="0"/>
              <a:t>https://www.geeksforgeeks.org/introduction-of-classful-ip-addressing/</a:t>
            </a:r>
          </a:p>
        </p:txBody>
      </p:sp>
      <p:sp>
        <p:nvSpPr>
          <p:cNvPr id="4" name="Slide Number Placeholder 3">
            <a:extLst>
              <a:ext uri="{FF2B5EF4-FFF2-40B4-BE49-F238E27FC236}">
                <a16:creationId xmlns:a16="http://schemas.microsoft.com/office/drawing/2014/main" id="{CC2B7138-204E-E4B0-95AD-9C0A1E5E2757}"/>
              </a:ext>
            </a:extLst>
          </p:cNvPr>
          <p:cNvSpPr>
            <a:spLocks noGrp="1"/>
          </p:cNvSpPr>
          <p:nvPr>
            <p:ph type="sldNum" sz="quarter" idx="12"/>
          </p:nvPr>
        </p:nvSpPr>
        <p:spPr/>
        <p:txBody>
          <a:bodyPr/>
          <a:lstStyle/>
          <a:p>
            <a:fld id="{25BA54BD-C84D-46CE-8B72-31BFB26ABA43}" type="slidenum">
              <a:rPr lang="en-IN" smtClean="0"/>
              <a:t>28</a:t>
            </a:fld>
            <a:endParaRPr lang="en-IN" dirty="0"/>
          </a:p>
        </p:txBody>
      </p:sp>
      <p:sp>
        <p:nvSpPr>
          <p:cNvPr id="5" name="Footer Placeholder 4">
            <a:extLst>
              <a:ext uri="{FF2B5EF4-FFF2-40B4-BE49-F238E27FC236}">
                <a16:creationId xmlns:a16="http://schemas.microsoft.com/office/drawing/2014/main" id="{AFA4CB0E-E2D9-6205-4A43-3F8B6BE7281F}"/>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795212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447610-DBBD-DB92-3D84-C72F837108B4}"/>
              </a:ext>
            </a:extLst>
          </p:cNvPr>
          <p:cNvSpPr/>
          <p:nvPr/>
        </p:nvSpPr>
        <p:spPr>
          <a:xfrm>
            <a:off x="3043046" y="2852936"/>
            <a:ext cx="6102732" cy="1446550"/>
          </a:xfrm>
          <a:prstGeom prst="rect">
            <a:avLst/>
          </a:prstGeom>
          <a:noFill/>
        </p:spPr>
        <p:txBody>
          <a:bodyPr wrap="square" lIns="91440" tIns="45720" rIns="91440" bIns="45720">
            <a:spAutoFit/>
          </a:bodyPr>
          <a:lstStyle/>
          <a:p>
            <a:pPr algn="ctr"/>
            <a:r>
              <a:rPr lang="en-US" sz="8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Thank You</a:t>
            </a:r>
          </a:p>
        </p:txBody>
      </p:sp>
      <p:sp>
        <p:nvSpPr>
          <p:cNvPr id="3" name="Slide Number Placeholder 2">
            <a:extLst>
              <a:ext uri="{FF2B5EF4-FFF2-40B4-BE49-F238E27FC236}">
                <a16:creationId xmlns:a16="http://schemas.microsoft.com/office/drawing/2014/main" id="{F7CE38C1-8290-85FE-30CB-97B4DF97642A}"/>
              </a:ext>
            </a:extLst>
          </p:cNvPr>
          <p:cNvSpPr>
            <a:spLocks noGrp="1"/>
          </p:cNvSpPr>
          <p:nvPr>
            <p:ph type="sldNum" sz="quarter" idx="12"/>
          </p:nvPr>
        </p:nvSpPr>
        <p:spPr/>
        <p:txBody>
          <a:bodyPr/>
          <a:lstStyle/>
          <a:p>
            <a:fld id="{25BA54BD-C84D-46CE-8B72-31BFB26ABA43}" type="slidenum">
              <a:rPr lang="en-IN" smtClean="0"/>
              <a:t>29</a:t>
            </a:fld>
            <a:endParaRPr lang="en-IN"/>
          </a:p>
        </p:txBody>
      </p:sp>
      <p:sp>
        <p:nvSpPr>
          <p:cNvPr id="4" name="Footer Placeholder 3">
            <a:extLst>
              <a:ext uri="{FF2B5EF4-FFF2-40B4-BE49-F238E27FC236}">
                <a16:creationId xmlns:a16="http://schemas.microsoft.com/office/drawing/2014/main" id="{F0B58446-4D58-3800-90DD-01829CC0966C}"/>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2181935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halkboard 16x9">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300000"/>
              </a:schemeClr>
            </a:gs>
            <a:gs pos="100000">
              <a:schemeClr val="phClr">
                <a:shade val="30000"/>
                <a:satMod val="200000"/>
              </a:schemeClr>
            </a:gs>
          </a:gsLst>
          <a:path path="circle">
            <a:fillToRect l="50000" t="50000" r="50000" b="50000"/>
          </a:path>
        </a:gradFill>
        <a:blipFill rotWithShape="1">
          <a:blip xmlns:r="http://schemas.openxmlformats.org/officeDocument/2006/relationships" r:embed="rId1">
            <a:duotone>
              <a:schemeClr val="phClr">
                <a:shade val="12000"/>
                <a:satMod val="240000"/>
              </a:schemeClr>
              <a:schemeClr val="phClr">
                <a:tint val="65000"/>
              </a:schemeClr>
            </a:duotone>
          </a:blip>
          <a:stretch/>
        </a:blipFill>
      </a:bgFillStyleLst>
    </a:fmtScheme>
  </a:themeElements>
  <a:objectDefaults>
    <a:spDef>
      <a:spPr>
        <a:ln>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nSpc>
            <a:spcPct val="90000"/>
          </a:lnSpc>
          <a:defRPr sz="2400"/>
        </a:defPPr>
      </a:lstStyle>
    </a:txDef>
  </a:objectDefaults>
  <a:extraClrSchemeLst/>
  <a:extLst>
    <a:ext uri="{05A4C25C-085E-4340-85A3-A5531E510DB2}">
      <thm15:themeFamily xmlns:thm15="http://schemas.microsoft.com/office/thememl/2012/main" name="TF00001018.potx" id="{D19C2884-2C55-4C1A-A5C2-5D03FF1F35A4}" vid="{5F7A9C6A-558C-4654-B762-2F22BC904FAE}"/>
    </a:ext>
  </a:extLst>
</a:theme>
</file>

<file path=ppt/theme/theme2.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Chalkboard education presentation (widescreen)</Template>
  <TotalTime>720</TotalTime>
  <Words>1728</Words>
  <Application>Microsoft Office PowerPoint</Application>
  <PresentationFormat>Custom</PresentationFormat>
  <Paragraphs>163</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Consolas</vt:lpstr>
      <vt:lpstr>Corbel</vt:lpstr>
      <vt:lpstr>Chalkboard 16x9</vt:lpstr>
      <vt:lpstr>Advanced Computer Network  (4350706)  Unit-2 Next Generation IP</vt:lpstr>
      <vt:lpstr>Topics to be discussed</vt:lpstr>
      <vt:lpstr>IPv6 Addressing</vt:lpstr>
      <vt:lpstr>Representation</vt:lpstr>
      <vt:lpstr>Abbreviation</vt:lpstr>
      <vt:lpstr>Mixed Notation</vt:lpstr>
      <vt:lpstr>CIDR Notation</vt:lpstr>
      <vt:lpstr>Address Space</vt:lpstr>
      <vt:lpstr>Three Address Types</vt:lpstr>
      <vt:lpstr>Address space allocation</vt:lpstr>
      <vt:lpstr>Global Unicast Address</vt:lpstr>
      <vt:lpstr>Global Unicast Address</vt:lpstr>
      <vt:lpstr>Global Unicast Address</vt:lpstr>
      <vt:lpstr>Global Unicast Address(EUI-64)</vt:lpstr>
      <vt:lpstr>Global Unicast Address(Ethernet MAC)</vt:lpstr>
      <vt:lpstr>Global Unicast Address</vt:lpstr>
      <vt:lpstr>Global Unicast Address</vt:lpstr>
      <vt:lpstr>Global Unicast Address</vt:lpstr>
      <vt:lpstr>Global Unicast Address</vt:lpstr>
      <vt:lpstr>Special Address</vt:lpstr>
      <vt:lpstr>Other Assigned Blocks</vt:lpstr>
      <vt:lpstr>Autoconfiguration</vt:lpstr>
      <vt:lpstr>Autoconfiguration</vt:lpstr>
      <vt:lpstr>Autoconfiguration(Process)</vt:lpstr>
      <vt:lpstr>PowerPoint Presentation</vt:lpstr>
      <vt:lpstr>Renumbering</vt:lpstr>
      <vt:lpstr>Questions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Computer Network  (4350706)  Unit-1 Network Layer Protocols</dc:title>
  <dc:creator>CHETANKUMAR KAMANI</dc:creator>
  <cp:lastModifiedBy>CHETANKUMAR KAMANI</cp:lastModifiedBy>
  <cp:revision>11</cp:revision>
  <dcterms:created xsi:type="dcterms:W3CDTF">2023-08-27T07:27:45Z</dcterms:created>
  <dcterms:modified xsi:type="dcterms:W3CDTF">2023-09-22T07:54:57Z</dcterms:modified>
</cp:coreProperties>
</file>