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handoutMasterIdLst>
    <p:handoutMasterId r:id="rId32"/>
  </p:handoutMasterIdLst>
  <p:sldIdLst>
    <p:sldId id="256" r:id="rId2"/>
    <p:sldId id="257" r:id="rId3"/>
    <p:sldId id="315" r:id="rId4"/>
    <p:sldId id="341" r:id="rId5"/>
    <p:sldId id="342" r:id="rId6"/>
    <p:sldId id="343" r:id="rId7"/>
    <p:sldId id="344"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14" r:id="rId28"/>
    <p:sldId id="305" r:id="rId29"/>
    <p:sldId id="304" r:id="rId3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41" autoAdjust="0"/>
  </p:normalViewPr>
  <p:slideViewPr>
    <p:cSldViewPr>
      <p:cViewPr varScale="1">
        <p:scale>
          <a:sx n="78" d="100"/>
          <a:sy n="78" d="100"/>
        </p:scale>
        <p:origin x="787" y="62"/>
      </p:cViewPr>
      <p:guideLst>
        <p:guide pos="3839"/>
        <p:guide orient="horz" pos="2160"/>
      </p:guideLst>
    </p:cSldViewPr>
  </p:slideViewPr>
  <p:notesTextViewPr>
    <p:cViewPr>
      <p:scale>
        <a:sx n="1" d="1"/>
        <a:sy n="1" d="1"/>
      </p:scale>
      <p:origin x="0" y="0"/>
    </p:cViewPr>
  </p:notesTextViewPr>
  <p:notesViewPr>
    <p:cSldViewPr showGuides="1">
      <p:cViewPr varScale="1">
        <p:scale>
          <a:sx n="62" d="100"/>
          <a:sy n="62" d="100"/>
        </p:scale>
        <p:origin x="2371"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9/25/2023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9/25/2023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Unit-2</a:t>
            </a:r>
            <a:br>
              <a:rPr lang="en-US" sz="4000" dirty="0"/>
            </a:br>
            <a:r>
              <a:rPr lang="en-US" sz="4000" dirty="0"/>
              <a:t>Next Generation IP</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normAutofit/>
          </a:bodyPr>
          <a:lstStyle/>
          <a:p>
            <a:r>
              <a:rPr lang="en-US" dirty="0"/>
              <a:t>The IPv6 Protocol</a:t>
            </a:r>
          </a:p>
          <a:p>
            <a:r>
              <a:rPr lang="en-US" dirty="0"/>
              <a:t>The IPv6 Packet format</a:t>
            </a:r>
          </a:p>
          <a:p>
            <a:r>
              <a:rPr lang="en-US" dirty="0"/>
              <a:t>Concepts of flow and priority in IPv6</a:t>
            </a:r>
          </a:p>
          <a:p>
            <a:r>
              <a:rPr lang="en-US" dirty="0"/>
              <a:t>Fragmentation and Reassembly</a:t>
            </a:r>
          </a:p>
          <a:p>
            <a:r>
              <a:rPr lang="en-US" dirty="0"/>
              <a:t>Extension Headers</a:t>
            </a:r>
          </a:p>
          <a:p>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The IPv6 Protocol</a:t>
            </a:r>
          </a:p>
        </p:txBody>
      </p:sp>
      <p:sp>
        <p:nvSpPr>
          <p:cNvPr id="14" name="Content Placeholder 13"/>
          <p:cNvSpPr>
            <a:spLocks noGrp="1"/>
          </p:cNvSpPr>
          <p:nvPr>
            <p:ph idx="1"/>
          </p:nvPr>
        </p:nvSpPr>
        <p:spPr/>
        <p:txBody>
          <a:bodyPr>
            <a:normAutofit lnSpcReduction="10000"/>
          </a:bodyPr>
          <a:lstStyle/>
          <a:p>
            <a:r>
              <a:rPr lang="en-IN" dirty="0"/>
              <a:t>The change of the IPv6 address size requires the change in the IPv4 packet format.</a:t>
            </a:r>
          </a:p>
          <a:p>
            <a:r>
              <a:rPr lang="en-IN" dirty="0"/>
              <a:t>The designer of IPv6 decided to implement remedies for other shortcomings now that a change is inevitable.</a:t>
            </a:r>
          </a:p>
          <a:p>
            <a:r>
              <a:rPr lang="en-IN" dirty="0"/>
              <a:t>The following shows other changes implemented in the protocol in addition to changing address size and format.</a:t>
            </a:r>
          </a:p>
          <a:p>
            <a:pPr lvl="1"/>
            <a:r>
              <a:rPr lang="en-IN" dirty="0"/>
              <a:t>Better header format</a:t>
            </a:r>
          </a:p>
          <a:p>
            <a:pPr lvl="1"/>
            <a:r>
              <a:rPr lang="en-IN" dirty="0"/>
              <a:t>New options</a:t>
            </a:r>
          </a:p>
          <a:p>
            <a:pPr lvl="1"/>
            <a:r>
              <a:rPr lang="en-IN" dirty="0"/>
              <a:t>Allowance for extension</a:t>
            </a:r>
          </a:p>
          <a:p>
            <a:pPr lvl="1"/>
            <a:r>
              <a:rPr lang="en-IN" dirty="0"/>
              <a:t>Support for resource allocation</a:t>
            </a:r>
          </a:p>
          <a:p>
            <a:pPr lvl="1"/>
            <a:r>
              <a:rPr lang="en-IN" dirty="0"/>
              <a:t>Support for more security</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19711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The IPv6 Packet format</a:t>
            </a:r>
          </a:p>
        </p:txBody>
      </p:sp>
      <p:pic>
        <p:nvPicPr>
          <p:cNvPr id="5" name="Content Placeholder 4">
            <a:extLst>
              <a:ext uri="{FF2B5EF4-FFF2-40B4-BE49-F238E27FC236}">
                <a16:creationId xmlns:a16="http://schemas.microsoft.com/office/drawing/2014/main" id="{03B17030-8D61-4105-BE13-A7A3D57CE115}"/>
              </a:ext>
            </a:extLst>
          </p:cNvPr>
          <p:cNvPicPr>
            <a:picLocks noGrp="1" noChangeAspect="1"/>
          </p:cNvPicPr>
          <p:nvPr>
            <p:ph type="pic" idx="1"/>
          </p:nvPr>
        </p:nvPicPr>
        <p:blipFill rotWithShape="1">
          <a:blip r:embed="rId2"/>
          <a:srcRect l="26304" t="15058" r="15823" b="19021"/>
          <a:stretch/>
        </p:blipFill>
        <p:spPr>
          <a:xfrm>
            <a:off x="1629916" y="2049042"/>
            <a:ext cx="5935794" cy="3600400"/>
          </a:xfrm>
          <a:noFill/>
        </p:spPr>
      </p:pic>
      <p:sp>
        <p:nvSpPr>
          <p:cNvPr id="20" name="Text Placeholder 3">
            <a:extLst>
              <a:ext uri="{FF2B5EF4-FFF2-40B4-BE49-F238E27FC236}">
                <a16:creationId xmlns:a16="http://schemas.microsoft.com/office/drawing/2014/main" id="{01F9386D-2C78-34DF-D1EB-1CADF218CB35}"/>
              </a:ext>
            </a:extLst>
          </p:cNvPr>
          <p:cNvSpPr>
            <a:spLocks noGrp="1"/>
          </p:cNvSpPr>
          <p:nvPr>
            <p:ph type="body" sz="half" idx="2"/>
          </p:nvPr>
        </p:nvSpPr>
        <p:spPr>
          <a:xfrm>
            <a:off x="7905959" y="3411748"/>
            <a:ext cx="2743200" cy="2743200"/>
          </a:xfrm>
        </p:spPr>
        <p:txBody>
          <a:bodyPr anchor="ctr">
            <a:normAutofit/>
          </a:bodyPr>
          <a:lstStyle/>
          <a:p>
            <a:pPr algn="ctr"/>
            <a:r>
              <a:rPr lang="en-US" sz="1800" b="1" dirty="0"/>
              <a:t>Each packet is composed of base header followed by the payload.</a:t>
            </a:r>
          </a:p>
          <a:p>
            <a:pPr algn="ctr"/>
            <a:r>
              <a:rPr lang="en-US" sz="1800" b="1" dirty="0"/>
              <a:t>The base header occupies 40 bytes, where as payload can be </a:t>
            </a:r>
            <a:r>
              <a:rPr lang="en-US" sz="1800" b="1" dirty="0" err="1"/>
              <a:t>upto</a:t>
            </a:r>
            <a:r>
              <a:rPr lang="en-US" sz="1800" b="1" dirty="0"/>
              <a:t> 65,535 bytes of information.</a:t>
            </a:r>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a:xfrm>
            <a:off x="1522413" y="6400801"/>
            <a:ext cx="6324599" cy="276226"/>
          </a:xfrm>
        </p:spPr>
        <p:txBody>
          <a:bodyPr anchor="ctr">
            <a:normAutofit/>
          </a:bodyPr>
          <a:lstStyle/>
          <a:p>
            <a:pPr>
              <a:spcAft>
                <a:spcPts val="600"/>
              </a:spcAft>
            </a:pPr>
            <a:r>
              <a:rPr lang="en-IN"/>
              <a:t>Prepared By: Mr. Chetan C. Kamani, Lecturer computer department, GP, Jamnagar</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a:xfrm>
            <a:off x="9523412" y="6400801"/>
            <a:ext cx="1143002" cy="276226"/>
          </a:xfrm>
        </p:spPr>
        <p:txBody>
          <a:bodyPr anchor="ctr">
            <a:normAutofit/>
          </a:bodyPr>
          <a:lstStyle/>
          <a:p>
            <a:pPr>
              <a:spcAft>
                <a:spcPts val="600"/>
              </a:spcAft>
            </a:pPr>
            <a:fld id="{25BA54BD-C84D-46CE-8B72-31BFB26ABA43}" type="slidenum">
              <a:rPr lang="en-IN" smtClean="0"/>
              <a:pPr>
                <a:spcAft>
                  <a:spcPts val="600"/>
                </a:spcAft>
              </a:pPr>
              <a:t>4</a:t>
            </a:fld>
            <a:endParaRPr lang="en-IN"/>
          </a:p>
        </p:txBody>
      </p:sp>
    </p:spTree>
    <p:extLst>
      <p:ext uri="{BB962C8B-B14F-4D97-AF65-F5344CB8AC3E}">
        <p14:creationId xmlns:p14="http://schemas.microsoft.com/office/powerpoint/2010/main" val="31983991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The IPv6 Packet format</a:t>
            </a:r>
          </a:p>
        </p:txBody>
      </p:sp>
      <p:sp>
        <p:nvSpPr>
          <p:cNvPr id="14" name="Content Placeholder 13"/>
          <p:cNvSpPr>
            <a:spLocks noGrp="1"/>
          </p:cNvSpPr>
          <p:nvPr>
            <p:ph idx="1"/>
          </p:nvPr>
        </p:nvSpPr>
        <p:spPr/>
        <p:txBody>
          <a:bodyPr>
            <a:normAutofit/>
          </a:bodyPr>
          <a:lstStyle/>
          <a:p>
            <a:r>
              <a:rPr lang="en-US" b="1" dirty="0"/>
              <a:t>Version</a:t>
            </a:r>
          </a:p>
          <a:p>
            <a:pPr lvl="1"/>
            <a:r>
              <a:rPr lang="en-IN" dirty="0"/>
              <a:t>The 4-bit version field defines the version number of the IP. For IPv6, the value is 6.</a:t>
            </a:r>
          </a:p>
          <a:p>
            <a:r>
              <a:rPr lang="en-US" b="1" dirty="0"/>
              <a:t>Traffic class.</a:t>
            </a:r>
          </a:p>
          <a:p>
            <a:pPr lvl="1"/>
            <a:r>
              <a:rPr lang="en-IN" dirty="0"/>
              <a:t>The 8-bit traffic class field is used to distinguish different payloads with different delivery requirements.</a:t>
            </a:r>
          </a:p>
          <a:p>
            <a:pPr lvl="1"/>
            <a:r>
              <a:rPr lang="en-IN" dirty="0"/>
              <a:t>It replaces the type-of-service field in IPv4.</a:t>
            </a:r>
          </a:p>
          <a:p>
            <a:r>
              <a:rPr lang="en-IN" b="1" dirty="0"/>
              <a:t>Flow label</a:t>
            </a:r>
          </a:p>
          <a:p>
            <a:pPr lvl="1"/>
            <a:r>
              <a:rPr lang="en-IN" dirty="0"/>
              <a:t>The flow label is a 20-bit field that is designed to provide special handling for a particular flow of data.</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999743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The IPv6 Packet format</a:t>
            </a:r>
          </a:p>
        </p:txBody>
      </p:sp>
      <p:sp>
        <p:nvSpPr>
          <p:cNvPr id="14" name="Content Placeholder 13"/>
          <p:cNvSpPr>
            <a:spLocks noGrp="1"/>
          </p:cNvSpPr>
          <p:nvPr>
            <p:ph idx="1"/>
          </p:nvPr>
        </p:nvSpPr>
        <p:spPr/>
        <p:txBody>
          <a:bodyPr>
            <a:normAutofit/>
          </a:bodyPr>
          <a:lstStyle/>
          <a:p>
            <a:r>
              <a:rPr lang="en-US" b="1" dirty="0"/>
              <a:t>Payload length.</a:t>
            </a:r>
          </a:p>
          <a:p>
            <a:pPr lvl="1"/>
            <a:r>
              <a:rPr lang="en-IN" dirty="0"/>
              <a:t>The 2-byte payload length field defines the length of the IP datagram excluding the header.</a:t>
            </a:r>
          </a:p>
          <a:p>
            <a:pPr lvl="1"/>
            <a:r>
              <a:rPr lang="en-IN" dirty="0"/>
              <a:t>Note that IPv4 defines two fields related to the length: header length and total length.</a:t>
            </a:r>
          </a:p>
          <a:p>
            <a:pPr lvl="1"/>
            <a:r>
              <a:rPr lang="en-IN" dirty="0"/>
              <a:t>In IPv6, the length of the base header is fixed (40 bytes); only the length of the payload needs to be defined.</a:t>
            </a:r>
          </a:p>
          <a:p>
            <a:r>
              <a:rPr lang="en-US" b="1" dirty="0"/>
              <a:t>Next header.</a:t>
            </a:r>
          </a:p>
          <a:p>
            <a:pPr lvl="1"/>
            <a:r>
              <a:rPr lang="en-IN" dirty="0"/>
              <a:t>The next header is an 8-bit field defining the type of the first extension header (if present) or the type of the data that follows the base header in the datagram.</a:t>
            </a:r>
          </a:p>
          <a:p>
            <a:pPr lvl="1"/>
            <a:r>
              <a:rPr lang="en-IN" dirty="0"/>
              <a:t>This field is similar to the protocol field in IPv4.</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969779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The IPv6 Packet format</a:t>
            </a:r>
          </a:p>
        </p:txBody>
      </p:sp>
      <p:sp>
        <p:nvSpPr>
          <p:cNvPr id="14" name="Content Placeholder 13"/>
          <p:cNvSpPr>
            <a:spLocks noGrp="1"/>
          </p:cNvSpPr>
          <p:nvPr>
            <p:ph idx="1"/>
          </p:nvPr>
        </p:nvSpPr>
        <p:spPr/>
        <p:txBody>
          <a:bodyPr>
            <a:normAutofit/>
          </a:bodyPr>
          <a:lstStyle/>
          <a:p>
            <a:r>
              <a:rPr lang="en-US" b="1" dirty="0"/>
              <a:t>Hop limit.</a:t>
            </a:r>
          </a:p>
          <a:p>
            <a:pPr lvl="1"/>
            <a:r>
              <a:rPr lang="en-IN" dirty="0"/>
              <a:t>The 8-bit hop limit field serves the same purpose as the TTL field in IPv4.</a:t>
            </a:r>
          </a:p>
          <a:p>
            <a:r>
              <a:rPr lang="en-US" b="1" dirty="0"/>
              <a:t>Next header.</a:t>
            </a:r>
          </a:p>
          <a:p>
            <a:pPr lvl="1"/>
            <a:r>
              <a:rPr lang="en-IN" dirty="0"/>
              <a:t>The source address field is a 16-byte (128-bit) Internet address that identifies the original source of the datagram.</a:t>
            </a:r>
          </a:p>
          <a:p>
            <a:pPr lvl="1"/>
            <a:r>
              <a:rPr lang="en-IN" dirty="0"/>
              <a:t>The destination address field is a 16-byte (128-bit) Internet address that identifies the destination of the datagram.</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6830171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The IPv6 Packet format</a:t>
            </a:r>
          </a:p>
        </p:txBody>
      </p:sp>
      <p:sp>
        <p:nvSpPr>
          <p:cNvPr id="14" name="Content Placeholder 13"/>
          <p:cNvSpPr>
            <a:spLocks noGrp="1"/>
          </p:cNvSpPr>
          <p:nvPr>
            <p:ph sz="half" idx="1"/>
          </p:nvPr>
        </p:nvSpPr>
        <p:spPr>
          <a:xfrm>
            <a:off x="1522413" y="1905000"/>
            <a:ext cx="4419599" cy="4267200"/>
          </a:xfrm>
        </p:spPr>
        <p:txBody>
          <a:bodyPr>
            <a:normAutofit/>
          </a:bodyPr>
          <a:lstStyle/>
          <a:p>
            <a:r>
              <a:rPr lang="en-IN" sz="1800" b="1" dirty="0"/>
              <a:t>Payload</a:t>
            </a:r>
          </a:p>
          <a:p>
            <a:pPr lvl="1"/>
            <a:r>
              <a:rPr lang="en-IN" sz="1800" dirty="0"/>
              <a:t>Compared to IPv4, the payload field in IPv6 has a different format and meaning, as shown in Figure.</a:t>
            </a:r>
          </a:p>
          <a:p>
            <a:pPr lvl="1"/>
            <a:r>
              <a:rPr lang="en-IN" sz="1800" dirty="0"/>
              <a:t>The payload in IPv6 means a combination of zero or more extension headers (options) followed by the data from other protocols (UDP, TCP, and so on).</a:t>
            </a:r>
          </a:p>
          <a:p>
            <a:pPr lvl="1"/>
            <a:r>
              <a:rPr lang="en-IN" sz="1800" dirty="0"/>
              <a:t>In IPv6, options, which are part of the header in IPv4, are designed as extension headers.</a:t>
            </a:r>
          </a:p>
          <a:p>
            <a:pPr lvl="1"/>
            <a:r>
              <a:rPr lang="en-IN" sz="1800" dirty="0"/>
              <a:t>The payload can have as many extension headers as required by the situation.</a:t>
            </a:r>
          </a:p>
        </p:txBody>
      </p:sp>
      <p:pic>
        <p:nvPicPr>
          <p:cNvPr id="5" name="Picture 4">
            <a:extLst>
              <a:ext uri="{FF2B5EF4-FFF2-40B4-BE49-F238E27FC236}">
                <a16:creationId xmlns:a16="http://schemas.microsoft.com/office/drawing/2014/main" id="{9B1699A9-0ADB-904D-6C91-BCD53D842E9A}"/>
              </a:ext>
            </a:extLst>
          </p:cNvPr>
          <p:cNvPicPr>
            <a:picLocks noChangeAspect="1"/>
          </p:cNvPicPr>
          <p:nvPr/>
        </p:nvPicPr>
        <p:blipFill rotWithShape="1">
          <a:blip r:embed="rId2"/>
          <a:srcRect l="22234" t="46664" r="24980" b="13302"/>
          <a:stretch/>
        </p:blipFill>
        <p:spPr>
          <a:xfrm>
            <a:off x="6094412" y="2492896"/>
            <a:ext cx="5724603" cy="2642827"/>
          </a:xfrm>
          <a:prstGeom prst="rect">
            <a:avLst/>
          </a:prstGeom>
          <a:noFill/>
        </p:spPr>
      </p:pic>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a:xfrm>
            <a:off x="1522413" y="6400801"/>
            <a:ext cx="6324599" cy="276226"/>
          </a:xfrm>
        </p:spPr>
        <p:txBody>
          <a:bodyPr anchor="ctr">
            <a:normAutofit/>
          </a:bodyPr>
          <a:lstStyle/>
          <a:p>
            <a:pPr>
              <a:spcAft>
                <a:spcPts val="600"/>
              </a:spcAft>
            </a:pPr>
            <a:r>
              <a:rPr lang="en-IN"/>
              <a:t>Prepared By: Mr. Chetan C. Kamani, Lecturer computer department, GP, Jamnagar</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a:xfrm>
            <a:off x="9523412" y="6400801"/>
            <a:ext cx="1143002" cy="276226"/>
          </a:xfrm>
        </p:spPr>
        <p:txBody>
          <a:bodyPr anchor="ctr">
            <a:normAutofit/>
          </a:bodyPr>
          <a:lstStyle/>
          <a:p>
            <a:pPr>
              <a:spcAft>
                <a:spcPts val="600"/>
              </a:spcAft>
            </a:pPr>
            <a:fld id="{25BA54BD-C84D-46CE-8B72-31BFB26ABA43}" type="slidenum">
              <a:rPr lang="en-IN" smtClean="0"/>
              <a:pPr>
                <a:spcAft>
                  <a:spcPts val="600"/>
                </a:spcAft>
              </a:pPr>
              <a:t>8</a:t>
            </a:fld>
            <a:endParaRPr lang="en-IN"/>
          </a:p>
        </p:txBody>
      </p:sp>
    </p:spTree>
    <p:extLst>
      <p:ext uri="{BB962C8B-B14F-4D97-AF65-F5344CB8AC3E}">
        <p14:creationId xmlns:p14="http://schemas.microsoft.com/office/powerpoint/2010/main" val="42528931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The IPv6 Packet format</a:t>
            </a:r>
          </a:p>
        </p:txBody>
      </p:sp>
      <p:sp>
        <p:nvSpPr>
          <p:cNvPr id="14" name="Content Placeholder 13"/>
          <p:cNvSpPr>
            <a:spLocks noGrp="1"/>
          </p:cNvSpPr>
          <p:nvPr>
            <p:ph sz="half" idx="1"/>
          </p:nvPr>
        </p:nvSpPr>
        <p:spPr>
          <a:xfrm>
            <a:off x="1522413" y="1905000"/>
            <a:ext cx="4419599" cy="4267200"/>
          </a:xfrm>
        </p:spPr>
        <p:txBody>
          <a:bodyPr>
            <a:normAutofit/>
          </a:bodyPr>
          <a:lstStyle/>
          <a:p>
            <a:r>
              <a:rPr lang="en-IN" sz="1800" b="1" dirty="0"/>
              <a:t>Payload</a:t>
            </a:r>
          </a:p>
          <a:p>
            <a:pPr lvl="1"/>
            <a:r>
              <a:rPr lang="en-IN" sz="1800" dirty="0"/>
              <a:t>Each extension header has two mandatory fields, next header and the length, followed by information related to the particular option.</a:t>
            </a:r>
          </a:p>
          <a:p>
            <a:pPr lvl="1"/>
            <a:r>
              <a:rPr lang="en-IN" sz="1800" dirty="0"/>
              <a:t>Note that each next header field value (code) defines the type of the next header (hop-by-hop option, source routing option, . . .); the last next header field defines the protocol (UDP, TCP, . . .) that is carried by the datagram.</a:t>
            </a:r>
          </a:p>
        </p:txBody>
      </p:sp>
      <p:pic>
        <p:nvPicPr>
          <p:cNvPr id="5" name="Picture 4">
            <a:extLst>
              <a:ext uri="{FF2B5EF4-FFF2-40B4-BE49-F238E27FC236}">
                <a16:creationId xmlns:a16="http://schemas.microsoft.com/office/drawing/2014/main" id="{9B1699A9-0ADB-904D-6C91-BCD53D842E9A}"/>
              </a:ext>
            </a:extLst>
          </p:cNvPr>
          <p:cNvPicPr>
            <a:picLocks noChangeAspect="1"/>
          </p:cNvPicPr>
          <p:nvPr/>
        </p:nvPicPr>
        <p:blipFill rotWithShape="1">
          <a:blip r:embed="rId2"/>
          <a:srcRect l="22234" t="46664" r="24980" b="13302"/>
          <a:stretch/>
        </p:blipFill>
        <p:spPr>
          <a:xfrm>
            <a:off x="6122400" y="2420888"/>
            <a:ext cx="5724603" cy="2642827"/>
          </a:xfrm>
          <a:prstGeom prst="rect">
            <a:avLst/>
          </a:prstGeom>
          <a:noFill/>
        </p:spPr>
      </p:pic>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a:xfrm>
            <a:off x="1522413" y="6400801"/>
            <a:ext cx="6324599" cy="276226"/>
          </a:xfrm>
        </p:spPr>
        <p:txBody>
          <a:bodyPr anchor="ctr">
            <a:normAutofit/>
          </a:bodyPr>
          <a:lstStyle/>
          <a:p>
            <a:pPr>
              <a:spcAft>
                <a:spcPts val="600"/>
              </a:spcAft>
            </a:pPr>
            <a:r>
              <a:rPr lang="en-IN"/>
              <a:t>Prepared By: Mr. Chetan C. Kamani, Lecturer computer department, GP, Jamnagar</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a:xfrm>
            <a:off x="9523412" y="6400801"/>
            <a:ext cx="1143002" cy="276226"/>
          </a:xfrm>
        </p:spPr>
        <p:txBody>
          <a:bodyPr anchor="ctr">
            <a:normAutofit/>
          </a:bodyPr>
          <a:lstStyle/>
          <a:p>
            <a:pPr>
              <a:spcAft>
                <a:spcPts val="600"/>
              </a:spcAft>
            </a:pPr>
            <a:fld id="{25BA54BD-C84D-46CE-8B72-31BFB26ABA43}" type="slidenum">
              <a:rPr lang="en-IN" smtClean="0"/>
              <a:pPr>
                <a:spcAft>
                  <a:spcPts val="600"/>
                </a:spcAft>
              </a:pPr>
              <a:t>9</a:t>
            </a:fld>
            <a:endParaRPr lang="en-IN"/>
          </a:p>
        </p:txBody>
      </p:sp>
    </p:spTree>
    <p:extLst>
      <p:ext uri="{BB962C8B-B14F-4D97-AF65-F5344CB8AC3E}">
        <p14:creationId xmlns:p14="http://schemas.microsoft.com/office/powerpoint/2010/main" val="39974975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Concepts of flow and priority in IPv6</a:t>
            </a:r>
          </a:p>
        </p:txBody>
      </p:sp>
      <p:sp>
        <p:nvSpPr>
          <p:cNvPr id="14" name="Content Placeholder 13"/>
          <p:cNvSpPr>
            <a:spLocks noGrp="1"/>
          </p:cNvSpPr>
          <p:nvPr>
            <p:ph idx="1"/>
          </p:nvPr>
        </p:nvSpPr>
        <p:spPr/>
        <p:txBody>
          <a:bodyPr>
            <a:normAutofit lnSpcReduction="10000"/>
          </a:bodyPr>
          <a:lstStyle/>
          <a:p>
            <a:r>
              <a:rPr lang="en-IN" dirty="0"/>
              <a:t>The IP protocol was originally designed as a connectionless protocol. However, the tendency is to use the IP protocol as a connection-oriented protocol.</a:t>
            </a:r>
          </a:p>
          <a:p>
            <a:r>
              <a:rPr lang="en-IN" dirty="0"/>
              <a:t>The MPLS technology described earlier allows us to encapsulate an IPv4 packet in an MPLS header using a label field.</a:t>
            </a:r>
          </a:p>
          <a:p>
            <a:r>
              <a:rPr lang="en-IN" dirty="0"/>
              <a:t>In version 6, the flow label has been directly added to the format of the IPv6 datagram to allow us to use IPv6 as a connection-oriented protocol.</a:t>
            </a:r>
          </a:p>
          <a:p>
            <a:r>
              <a:rPr lang="en-IN" dirty="0"/>
              <a:t>To a router, a flow is a sequence of packets that share the same characteristics, such as traveling the same path, using the same resources, having the same kind of security, and so on.</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0119398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Concepts of flow and priority in IPv6</a:t>
            </a:r>
          </a:p>
        </p:txBody>
      </p:sp>
      <p:sp>
        <p:nvSpPr>
          <p:cNvPr id="14" name="Content Placeholder 13"/>
          <p:cNvSpPr>
            <a:spLocks noGrp="1"/>
          </p:cNvSpPr>
          <p:nvPr>
            <p:ph idx="1"/>
          </p:nvPr>
        </p:nvSpPr>
        <p:spPr/>
        <p:txBody>
          <a:bodyPr>
            <a:normAutofit lnSpcReduction="10000"/>
          </a:bodyPr>
          <a:lstStyle/>
          <a:p>
            <a:r>
              <a:rPr lang="en-IN" dirty="0"/>
              <a:t>A router that supports the handling of flow labels has a flow label table. The table has an entry for each active flow label; each entry defines the services required by the corresponding flow label.</a:t>
            </a:r>
          </a:p>
          <a:p>
            <a:r>
              <a:rPr lang="en-IN" dirty="0"/>
              <a:t>When the router receives a packet, it consults its flow label table to find the corresponding entry for the flow label value defined in the packet.</a:t>
            </a:r>
          </a:p>
          <a:p>
            <a:r>
              <a:rPr lang="en-IN" dirty="0"/>
              <a:t>It then provides the packet with the services mentioned in the entry.</a:t>
            </a:r>
          </a:p>
          <a:p>
            <a:r>
              <a:rPr lang="en-IN" dirty="0"/>
              <a:t>However, note that the flow label itself does not provide the information for the entries of the flow label table; the information is provided by other means, such as the hop-by-hop options or other protocols.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1269239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Concepts of flow and priority in IPv6</a:t>
            </a:r>
          </a:p>
        </p:txBody>
      </p:sp>
      <p:sp>
        <p:nvSpPr>
          <p:cNvPr id="14" name="Content Placeholder 13"/>
          <p:cNvSpPr>
            <a:spLocks noGrp="1"/>
          </p:cNvSpPr>
          <p:nvPr>
            <p:ph idx="1"/>
          </p:nvPr>
        </p:nvSpPr>
        <p:spPr/>
        <p:txBody>
          <a:bodyPr>
            <a:normAutofit/>
          </a:bodyPr>
          <a:lstStyle/>
          <a:p>
            <a:r>
              <a:rPr lang="en-IN" dirty="0"/>
              <a:t>In its simplest form, a flow label can be used to speed up the processing of a packet by a router.</a:t>
            </a:r>
          </a:p>
          <a:p>
            <a:r>
              <a:rPr lang="en-IN" dirty="0"/>
              <a:t>When a router receives a packet, instead of consulting the forwarding table and going through a routing algorithm to define the address of the next hop, it can easily look in a flow label table for the next hop.</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4458870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Concepts of flow and priority in IPv6</a:t>
            </a:r>
          </a:p>
        </p:txBody>
      </p:sp>
      <p:sp>
        <p:nvSpPr>
          <p:cNvPr id="14" name="Content Placeholder 13"/>
          <p:cNvSpPr>
            <a:spLocks noGrp="1"/>
          </p:cNvSpPr>
          <p:nvPr>
            <p:ph idx="1"/>
          </p:nvPr>
        </p:nvSpPr>
        <p:spPr/>
        <p:txBody>
          <a:bodyPr>
            <a:normAutofit/>
          </a:bodyPr>
          <a:lstStyle/>
          <a:p>
            <a:r>
              <a:rPr lang="en-IN" dirty="0"/>
              <a:t>In its more sophisticated form, a flow label can be used to support the transmission of real-time audio and video. Real-time audio or video, particularly in digital form, requires resources such as high bandwidth, large buffers, long processing time, and so on. A process can make a reservation for these resources beforehand to guarantee that real-time data will not be delayed due to a lack of resources. The use of real-time data and the reservation of these resources require other protocols such as Real-Time Transport Protocol (RTP) and Resource Reservation Protocol (RSVP) in addition to IPv6.</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8705617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Fragmentation and Reassembly</a:t>
            </a:r>
          </a:p>
        </p:txBody>
      </p:sp>
      <p:sp>
        <p:nvSpPr>
          <p:cNvPr id="14" name="Content Placeholder 13"/>
          <p:cNvSpPr>
            <a:spLocks noGrp="1"/>
          </p:cNvSpPr>
          <p:nvPr>
            <p:ph idx="1"/>
          </p:nvPr>
        </p:nvSpPr>
        <p:spPr/>
        <p:txBody>
          <a:bodyPr>
            <a:normAutofit fontScale="92500" lnSpcReduction="10000"/>
          </a:bodyPr>
          <a:lstStyle/>
          <a:p>
            <a:r>
              <a:rPr lang="en-IN" dirty="0"/>
              <a:t>There are still fragmentation and reassembly of datagrams in the IPv6 protocol, but there is a major difference in this respect.</a:t>
            </a:r>
          </a:p>
          <a:p>
            <a:r>
              <a:rPr lang="en-IN" dirty="0"/>
              <a:t>IPv6 datagrams can be fragmented only by the source, not by the routers; the reassembly takes place at the destination.</a:t>
            </a:r>
          </a:p>
          <a:p>
            <a:r>
              <a:rPr lang="en-IN" dirty="0"/>
              <a:t>The fragmentation of packets at routers is not allowed to speed up the processing of packets in the router.</a:t>
            </a:r>
          </a:p>
          <a:p>
            <a:r>
              <a:rPr lang="en-IN" dirty="0"/>
              <a:t>The fragmentation of a packet in a router needs a lot of processing. The packet needs to be fragmented, all fields related to the fragmentation need to be recalculated.</a:t>
            </a:r>
          </a:p>
          <a:p>
            <a:r>
              <a:rPr lang="en-IN" dirty="0"/>
              <a:t>In IPv6, the source can check the size of the packet and make the decision to fragment the packet or not.</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444189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Fragmentation and Reassembly</a:t>
            </a:r>
          </a:p>
        </p:txBody>
      </p:sp>
      <p:sp>
        <p:nvSpPr>
          <p:cNvPr id="14" name="Content Placeholder 13"/>
          <p:cNvSpPr>
            <a:spLocks noGrp="1"/>
          </p:cNvSpPr>
          <p:nvPr>
            <p:ph idx="1"/>
          </p:nvPr>
        </p:nvSpPr>
        <p:spPr/>
        <p:txBody>
          <a:bodyPr>
            <a:normAutofit/>
          </a:bodyPr>
          <a:lstStyle/>
          <a:p>
            <a:r>
              <a:rPr lang="en-IN" dirty="0"/>
              <a:t>When a router receives the packet, it can check the size of the packet and drop it if the size is larger than allowed by the MTU of the network ahead.</a:t>
            </a:r>
          </a:p>
          <a:p>
            <a:r>
              <a:rPr lang="en-IN" dirty="0"/>
              <a:t>The router then sends a packet-too-big ICMPv6 error message (discussed later) to inform the source.</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3699612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Extension Headers</a:t>
            </a:r>
          </a:p>
        </p:txBody>
      </p:sp>
      <p:sp>
        <p:nvSpPr>
          <p:cNvPr id="14" name="Content Placeholder 13"/>
          <p:cNvSpPr>
            <a:spLocks noGrp="1"/>
          </p:cNvSpPr>
          <p:nvPr>
            <p:ph idx="1"/>
          </p:nvPr>
        </p:nvSpPr>
        <p:spPr/>
        <p:txBody>
          <a:bodyPr>
            <a:normAutofit/>
          </a:bodyPr>
          <a:lstStyle/>
          <a:p>
            <a:r>
              <a:rPr lang="en-IN" dirty="0"/>
              <a:t>An IPv6 packet is made of a base header and some extension headers.</a:t>
            </a:r>
          </a:p>
          <a:p>
            <a:r>
              <a:rPr lang="en-IN" dirty="0"/>
              <a:t>The length of the base header is fixed at 40 bytes.</a:t>
            </a:r>
          </a:p>
          <a:p>
            <a:r>
              <a:rPr lang="en-IN" dirty="0"/>
              <a:t>However, to give more functionality to the IP datagram, the base header can be followed by up to six extension headers.</a:t>
            </a:r>
          </a:p>
          <a:p>
            <a:r>
              <a:rPr lang="en-IN" dirty="0"/>
              <a:t>Many of these headers are options in IPv4.</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8703989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Extension Headers</a:t>
            </a:r>
          </a:p>
        </p:txBody>
      </p:sp>
      <p:pic>
        <p:nvPicPr>
          <p:cNvPr id="5" name="Content Placeholder 4">
            <a:extLst>
              <a:ext uri="{FF2B5EF4-FFF2-40B4-BE49-F238E27FC236}">
                <a16:creationId xmlns:a16="http://schemas.microsoft.com/office/drawing/2014/main" id="{B1C1CB20-DC3E-8D18-9566-0E50B2BF5032}"/>
              </a:ext>
            </a:extLst>
          </p:cNvPr>
          <p:cNvPicPr>
            <a:picLocks noGrp="1" noChangeAspect="1"/>
          </p:cNvPicPr>
          <p:nvPr>
            <p:ph idx="1"/>
          </p:nvPr>
        </p:nvPicPr>
        <p:blipFill rotWithShape="1">
          <a:blip r:embed="rId2"/>
          <a:srcRect l="22210" t="44152" r="15934" b="31927"/>
          <a:stretch/>
        </p:blipFill>
        <p:spPr>
          <a:xfrm>
            <a:off x="1159180" y="2636912"/>
            <a:ext cx="10164455" cy="2088232"/>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9481921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Hop-By-Hop Extension Header</a:t>
            </a:r>
          </a:p>
        </p:txBody>
      </p:sp>
      <p:sp>
        <p:nvSpPr>
          <p:cNvPr id="14" name="Content Placeholder 13"/>
          <p:cNvSpPr>
            <a:spLocks noGrp="1"/>
          </p:cNvSpPr>
          <p:nvPr>
            <p:ph idx="1"/>
          </p:nvPr>
        </p:nvSpPr>
        <p:spPr/>
        <p:txBody>
          <a:bodyPr>
            <a:normAutofit/>
          </a:bodyPr>
          <a:lstStyle/>
          <a:p>
            <a:r>
              <a:rPr lang="en-IN" dirty="0"/>
              <a:t>The hop-by-hop option is used when the source needs to pass information to all routers visited by the datagram.</a:t>
            </a:r>
          </a:p>
          <a:p>
            <a:r>
              <a:rPr lang="en-IN" dirty="0"/>
              <a:t>For example, perhaps routers must be informed about certain management, debugging, or control functions. Or, if the length of the datagram is more than the usual 65,535 bytes, routers must have this information.</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2744962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Hop-By-Hop Extension Header</a:t>
            </a:r>
          </a:p>
        </p:txBody>
      </p:sp>
      <p:sp>
        <p:nvSpPr>
          <p:cNvPr id="14" name="Content Placeholder 13"/>
          <p:cNvSpPr>
            <a:spLocks noGrp="1"/>
          </p:cNvSpPr>
          <p:nvPr>
            <p:ph idx="1"/>
          </p:nvPr>
        </p:nvSpPr>
        <p:spPr/>
        <p:txBody>
          <a:bodyPr>
            <a:normAutofit/>
          </a:bodyPr>
          <a:lstStyle/>
          <a:p>
            <a:r>
              <a:rPr lang="en-IN" sz="3200" dirty="0"/>
              <a:t>So far, only three hop-by- hop options have been defined: Pad1, </a:t>
            </a:r>
            <a:r>
              <a:rPr lang="en-IN" sz="3200" dirty="0" err="1"/>
              <a:t>PadN</a:t>
            </a:r>
            <a:r>
              <a:rPr lang="en-IN" sz="3200" dirty="0"/>
              <a:t>, and jumbo payload.</a:t>
            </a:r>
          </a:p>
          <a:p>
            <a:r>
              <a:rPr lang="en-IN" sz="3200" dirty="0"/>
              <a:t>Pad1.</a:t>
            </a:r>
          </a:p>
          <a:p>
            <a:pPr lvl="2"/>
            <a:r>
              <a:rPr lang="en-IN" sz="2400" dirty="0"/>
              <a:t>This option is 1 byte long and is designed for alignment purposes.</a:t>
            </a:r>
          </a:p>
          <a:p>
            <a:pPr lvl="2"/>
            <a:r>
              <a:rPr lang="en-IN" sz="2400" dirty="0"/>
              <a:t>Some options need to start at a specific bit of the 32-bit word.</a:t>
            </a:r>
          </a:p>
          <a:p>
            <a:pPr lvl="2"/>
            <a:r>
              <a:rPr lang="en-IN" sz="2400" dirty="0"/>
              <a:t>If an option falls short of this requirement by exactly one byte, Pad1 is added.</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08036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Hop-By-Hop Extension Header</a:t>
            </a:r>
          </a:p>
        </p:txBody>
      </p:sp>
      <p:sp>
        <p:nvSpPr>
          <p:cNvPr id="14" name="Content Placeholder 13"/>
          <p:cNvSpPr>
            <a:spLocks noGrp="1"/>
          </p:cNvSpPr>
          <p:nvPr>
            <p:ph idx="1"/>
          </p:nvPr>
        </p:nvSpPr>
        <p:spPr/>
        <p:txBody>
          <a:bodyPr>
            <a:normAutofit/>
          </a:bodyPr>
          <a:lstStyle/>
          <a:p>
            <a:r>
              <a:rPr lang="en-IN" sz="3600" dirty="0" err="1"/>
              <a:t>PadN</a:t>
            </a:r>
            <a:r>
              <a:rPr lang="en-IN" sz="3600" dirty="0"/>
              <a:t>.</a:t>
            </a:r>
          </a:p>
          <a:p>
            <a:pPr lvl="1"/>
            <a:r>
              <a:rPr lang="en-IN" sz="3200" dirty="0" err="1"/>
              <a:t>PadN</a:t>
            </a:r>
            <a:r>
              <a:rPr lang="en-IN" sz="3200" dirty="0"/>
              <a:t> is similar in concept to Pad1.</a:t>
            </a:r>
          </a:p>
          <a:p>
            <a:pPr lvl="2"/>
            <a:r>
              <a:rPr lang="en-IN" sz="2800" dirty="0"/>
              <a:t>The difference is that </a:t>
            </a:r>
            <a:r>
              <a:rPr lang="en-IN" sz="2800" dirty="0" err="1"/>
              <a:t>PadN</a:t>
            </a:r>
            <a:r>
              <a:rPr lang="en-IN" sz="2800" dirty="0"/>
              <a:t> is used when 2 or more bytes are needed for alignment.</a:t>
            </a:r>
          </a:p>
          <a:p>
            <a:r>
              <a:rPr lang="en-IN" sz="3600" dirty="0"/>
              <a:t>.</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9262333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Hop-By-Hop Extension Header</a:t>
            </a:r>
          </a:p>
        </p:txBody>
      </p:sp>
      <p:sp>
        <p:nvSpPr>
          <p:cNvPr id="14" name="Content Placeholder 13"/>
          <p:cNvSpPr>
            <a:spLocks noGrp="1"/>
          </p:cNvSpPr>
          <p:nvPr>
            <p:ph idx="1"/>
          </p:nvPr>
        </p:nvSpPr>
        <p:spPr/>
        <p:txBody>
          <a:bodyPr>
            <a:normAutofit/>
          </a:bodyPr>
          <a:lstStyle/>
          <a:p>
            <a:r>
              <a:rPr lang="en-IN" sz="3200" dirty="0"/>
              <a:t>Jumbo payload.</a:t>
            </a:r>
          </a:p>
          <a:p>
            <a:pPr lvl="1"/>
            <a:r>
              <a:rPr lang="en-IN" sz="2800" dirty="0"/>
              <a:t>Recall that the length of the payload in the IP datagram can be a maximum of 65,535 bytes.</a:t>
            </a:r>
          </a:p>
          <a:p>
            <a:pPr lvl="1"/>
            <a:r>
              <a:rPr lang="en-IN" sz="2800" dirty="0"/>
              <a:t>However, if for any reason a longer payload is required, we can use the jumbo payload option to define this longer length.</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2523410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Destination Extension Header</a:t>
            </a:r>
          </a:p>
        </p:txBody>
      </p:sp>
      <p:sp>
        <p:nvSpPr>
          <p:cNvPr id="14" name="Content Placeholder 13"/>
          <p:cNvSpPr>
            <a:spLocks noGrp="1"/>
          </p:cNvSpPr>
          <p:nvPr>
            <p:ph idx="1"/>
          </p:nvPr>
        </p:nvSpPr>
        <p:spPr/>
        <p:txBody>
          <a:bodyPr>
            <a:normAutofit/>
          </a:bodyPr>
          <a:lstStyle/>
          <a:p>
            <a:r>
              <a:rPr lang="en-IN" sz="2800" dirty="0"/>
              <a:t>The destination option is used when the source needs to pass information to the destination only.</a:t>
            </a:r>
          </a:p>
          <a:p>
            <a:r>
              <a:rPr lang="en-IN" sz="2800" dirty="0"/>
              <a:t>Intermediate routers are not permitted access to this information.</a:t>
            </a:r>
          </a:p>
          <a:p>
            <a:r>
              <a:rPr lang="en-IN" sz="2800" dirty="0"/>
              <a:t>The format of the destination option is the same as the hop-by-hop option.</a:t>
            </a:r>
          </a:p>
          <a:p>
            <a:r>
              <a:rPr lang="en-IN" sz="2800" dirty="0"/>
              <a:t>So far, only the Pad1 and </a:t>
            </a:r>
            <a:r>
              <a:rPr lang="en-IN" sz="2800" dirty="0" err="1"/>
              <a:t>PadN</a:t>
            </a:r>
            <a:r>
              <a:rPr lang="en-IN" sz="2800" dirty="0"/>
              <a:t> options have been defined.</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6064994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Source routing Extension Header</a:t>
            </a:r>
          </a:p>
        </p:txBody>
      </p:sp>
      <p:sp>
        <p:nvSpPr>
          <p:cNvPr id="14" name="Content Placeholder 13"/>
          <p:cNvSpPr>
            <a:spLocks noGrp="1"/>
          </p:cNvSpPr>
          <p:nvPr>
            <p:ph idx="1"/>
          </p:nvPr>
        </p:nvSpPr>
        <p:spPr/>
        <p:txBody>
          <a:bodyPr>
            <a:normAutofit/>
          </a:bodyPr>
          <a:lstStyle/>
          <a:p>
            <a:r>
              <a:rPr lang="en-IN" sz="2800" dirty="0"/>
              <a:t>The source routing extension header combines the concepts of the strict source route and the loose source route options of IPv4.</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9293637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Fragmentation Extension Header</a:t>
            </a:r>
          </a:p>
        </p:txBody>
      </p:sp>
      <p:sp>
        <p:nvSpPr>
          <p:cNvPr id="14" name="Content Placeholder 13"/>
          <p:cNvSpPr>
            <a:spLocks noGrp="1"/>
          </p:cNvSpPr>
          <p:nvPr>
            <p:ph idx="1"/>
          </p:nvPr>
        </p:nvSpPr>
        <p:spPr/>
        <p:txBody>
          <a:bodyPr>
            <a:normAutofit fontScale="85000" lnSpcReduction="10000"/>
          </a:bodyPr>
          <a:lstStyle/>
          <a:p>
            <a:r>
              <a:rPr lang="en-IN" sz="2800" dirty="0"/>
              <a:t>The concept of fragmentation in IPv6 is the same as that in IPv4.</a:t>
            </a:r>
          </a:p>
          <a:p>
            <a:r>
              <a:rPr lang="en-IN" sz="2800" dirty="0"/>
              <a:t>However, the place where fragmentation occurs differs. In IPv4, the source or a router is required to fragment if the size of the datagram is larger than the MTU of the network over which the datagram travels. In IPv6, only the original source can fragment.</a:t>
            </a:r>
          </a:p>
          <a:p>
            <a:r>
              <a:rPr lang="en-IN" sz="2800" dirty="0"/>
              <a:t>A source must use a Path MTU Discovery technique to find the smallest MTU supported by any network on the path.</a:t>
            </a:r>
          </a:p>
          <a:p>
            <a:r>
              <a:rPr lang="en-IN" sz="2800" dirty="0"/>
              <a:t>The source then fragments using this knowledge. If the source does not use a Path MTU Discovery technique, it fragments the datagram to a size of 1280 bytes or smaller. This is the minimum size of MTU required for each network connected to the Internet.</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8412865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Authentication Extension Header</a:t>
            </a:r>
          </a:p>
        </p:txBody>
      </p:sp>
      <p:sp>
        <p:nvSpPr>
          <p:cNvPr id="14" name="Content Placeholder 13"/>
          <p:cNvSpPr>
            <a:spLocks noGrp="1"/>
          </p:cNvSpPr>
          <p:nvPr>
            <p:ph idx="1"/>
          </p:nvPr>
        </p:nvSpPr>
        <p:spPr/>
        <p:txBody>
          <a:bodyPr>
            <a:normAutofit/>
          </a:bodyPr>
          <a:lstStyle/>
          <a:p>
            <a:r>
              <a:rPr lang="en-IN" sz="2800" dirty="0"/>
              <a:t>The authentication extension header has a dual purpose: </a:t>
            </a:r>
          </a:p>
          <a:p>
            <a:pPr lvl="1"/>
            <a:r>
              <a:rPr lang="en-IN" sz="2400" dirty="0"/>
              <a:t>it validates the message sender </a:t>
            </a:r>
          </a:p>
          <a:p>
            <a:pPr lvl="1"/>
            <a:r>
              <a:rPr lang="en-IN" sz="2400" dirty="0"/>
              <a:t>and ensures the integrity of data.</a:t>
            </a:r>
          </a:p>
          <a:p>
            <a:r>
              <a:rPr lang="en-IN" sz="2800" dirty="0"/>
              <a:t>The former is needed so the receiver can be sure that a message is from the genuine sender and not from an imposter. The latter is needed to check that the data is not altered in transition by some hacker.</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8045512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Encrypted security payload Extension Header</a:t>
            </a:r>
          </a:p>
        </p:txBody>
      </p:sp>
      <p:sp>
        <p:nvSpPr>
          <p:cNvPr id="14" name="Content Placeholder 13"/>
          <p:cNvSpPr>
            <a:spLocks noGrp="1"/>
          </p:cNvSpPr>
          <p:nvPr>
            <p:ph idx="1"/>
          </p:nvPr>
        </p:nvSpPr>
        <p:spPr/>
        <p:txBody>
          <a:bodyPr>
            <a:normAutofit/>
          </a:bodyPr>
          <a:lstStyle/>
          <a:p>
            <a:r>
              <a:rPr lang="en-IN" sz="2800" dirty="0"/>
              <a:t>The encrypted security payload (ESP) is an extension that provides confidentiality and guards against eavesdropping.</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204200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Questions</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3" y="1700808"/>
            <a:ext cx="9828582" cy="4548336"/>
          </a:xfrm>
        </p:spPr>
        <p:txBody>
          <a:bodyPr>
            <a:normAutofit/>
          </a:bodyPr>
          <a:lstStyle/>
          <a:p>
            <a:pPr algn="just"/>
            <a:endParaRPr lang="en-IN" dirty="0"/>
          </a:p>
        </p:txBody>
      </p:sp>
      <p:sp>
        <p:nvSpPr>
          <p:cNvPr id="4" name="Slide Number Placeholder 3">
            <a:extLst>
              <a:ext uri="{FF2B5EF4-FFF2-40B4-BE49-F238E27FC236}">
                <a16:creationId xmlns:a16="http://schemas.microsoft.com/office/drawing/2014/main" id="{7166B7F0-FAD0-1A34-FDC1-5E3F881A8218}"/>
              </a:ext>
            </a:extLst>
          </p:cNvPr>
          <p:cNvSpPr>
            <a:spLocks noGrp="1"/>
          </p:cNvSpPr>
          <p:nvPr>
            <p:ph type="sldNum" sz="quarter" idx="12"/>
          </p:nvPr>
        </p:nvSpPr>
        <p:spPr/>
        <p:txBody>
          <a:bodyPr/>
          <a:lstStyle/>
          <a:p>
            <a:fld id="{25BA54BD-C84D-46CE-8B72-31BFB26ABA43}" type="slidenum">
              <a:rPr lang="en-IN" smtClean="0"/>
              <a:t>27</a:t>
            </a:fld>
            <a:endParaRPr lang="en-IN"/>
          </a:p>
        </p:txBody>
      </p:sp>
      <p:sp>
        <p:nvSpPr>
          <p:cNvPr id="6" name="Footer Placeholder 5">
            <a:extLst>
              <a:ext uri="{FF2B5EF4-FFF2-40B4-BE49-F238E27FC236}">
                <a16:creationId xmlns:a16="http://schemas.microsoft.com/office/drawing/2014/main" id="{DD6ED850-8E54-66EB-261F-98C6024F0E14}"/>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329636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28</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29</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772</TotalTime>
  <Words>2331</Words>
  <Application>Microsoft Office PowerPoint</Application>
  <PresentationFormat>Custom</PresentationFormat>
  <Paragraphs>184</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Consolas</vt:lpstr>
      <vt:lpstr>Corbel</vt:lpstr>
      <vt:lpstr>Chalkboard 16x9</vt:lpstr>
      <vt:lpstr>Advanced Computer Network  (4350706)  Unit-2 Next Generation IP</vt:lpstr>
      <vt:lpstr>Topics to be discussed</vt:lpstr>
      <vt:lpstr>The IPv6 Protocol</vt:lpstr>
      <vt:lpstr>The IPv6 Packet format</vt:lpstr>
      <vt:lpstr>The IPv6 Packet format</vt:lpstr>
      <vt:lpstr>The IPv6 Packet format</vt:lpstr>
      <vt:lpstr>The IPv6 Packet format</vt:lpstr>
      <vt:lpstr>The IPv6 Packet format</vt:lpstr>
      <vt:lpstr>The IPv6 Packet format</vt:lpstr>
      <vt:lpstr>Concepts of flow and priority in IPv6</vt:lpstr>
      <vt:lpstr>Concepts of flow and priority in IPv6</vt:lpstr>
      <vt:lpstr>Concepts of flow and priority in IPv6</vt:lpstr>
      <vt:lpstr>Concepts of flow and priority in IPv6</vt:lpstr>
      <vt:lpstr>Fragmentation and Reassembly</vt:lpstr>
      <vt:lpstr>Fragmentation and Reassembly</vt:lpstr>
      <vt:lpstr>Extension Headers</vt:lpstr>
      <vt:lpstr>Extension Headers</vt:lpstr>
      <vt:lpstr>Hop-By-Hop Extension Header</vt:lpstr>
      <vt:lpstr>Hop-By-Hop Extension Header</vt:lpstr>
      <vt:lpstr>Hop-By-Hop Extension Header</vt:lpstr>
      <vt:lpstr>Hop-By-Hop Extension Header</vt:lpstr>
      <vt:lpstr>Destination Extension Header</vt:lpstr>
      <vt:lpstr>Source routing Extension Header</vt:lpstr>
      <vt:lpstr>Fragmentation Extension Header</vt:lpstr>
      <vt:lpstr>Authentication Extension Header</vt:lpstr>
      <vt:lpstr>Encrypted security payload Extension Header</vt:lpstr>
      <vt:lpstr>Questions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13</cp:revision>
  <dcterms:created xsi:type="dcterms:W3CDTF">2023-08-27T07:27:45Z</dcterms:created>
  <dcterms:modified xsi:type="dcterms:W3CDTF">2023-09-25T02:51:47Z</dcterms:modified>
</cp:coreProperties>
</file>